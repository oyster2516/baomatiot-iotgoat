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5" r:id="rId8"/>
    <p:sldId id="263" r:id="rId9"/>
    <p:sldId id="264"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0" d="100"/>
          <a:sy n="110" d="100"/>
        </p:scale>
        <p:origin x="76" y="1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accent1">
                    <a:lumMod val="75000"/>
                  </a:schemeClr>
                </a:solidFill>
                <a:latin typeface="HungHau" panose="02000503050000020004" pitchFamily="50" charset="0"/>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rgbClr val="00990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EC95CEA3-9253-4CBC-83F5-3402E992533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2EBA94-3AAD-4271-A21F-283CD153CB18}" type="slidenum">
              <a:rPr lang="en-US" smtClean="0"/>
              <a:t>‹#›</a:t>
            </a:fld>
            <a:endParaRPr lang="en-US"/>
          </a:p>
        </p:txBody>
      </p:sp>
    </p:spTree>
    <p:extLst>
      <p:ext uri="{BB962C8B-B14F-4D97-AF65-F5344CB8AC3E}">
        <p14:creationId xmlns:p14="http://schemas.microsoft.com/office/powerpoint/2010/main" val="1017558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95CEA3-9253-4CBC-83F5-3402E992533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2EBA94-3AAD-4271-A21F-283CD153CB18}" type="slidenum">
              <a:rPr lang="en-US" smtClean="0"/>
              <a:t>‹#›</a:t>
            </a:fld>
            <a:endParaRPr lang="en-US"/>
          </a:p>
        </p:txBody>
      </p:sp>
    </p:spTree>
    <p:extLst>
      <p:ext uri="{BB962C8B-B14F-4D97-AF65-F5344CB8AC3E}">
        <p14:creationId xmlns:p14="http://schemas.microsoft.com/office/powerpoint/2010/main" val="185411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95CEA3-9253-4CBC-83F5-3402E992533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2EBA94-3AAD-4271-A21F-283CD153CB18}" type="slidenum">
              <a:rPr lang="en-US" smtClean="0"/>
              <a:t>‹#›</a:t>
            </a:fld>
            <a:endParaRPr lang="en-US"/>
          </a:p>
        </p:txBody>
      </p:sp>
    </p:spTree>
    <p:extLst>
      <p:ext uri="{BB962C8B-B14F-4D97-AF65-F5344CB8AC3E}">
        <p14:creationId xmlns:p14="http://schemas.microsoft.com/office/powerpoint/2010/main" val="2117677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C95CEA3-9253-4CBC-83F5-3402E9925334}"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2EBA94-3AAD-4271-A21F-283CD153CB18}" type="slidenum">
              <a:rPr lang="en-US" smtClean="0"/>
              <a:t>‹#›</a:t>
            </a:fld>
            <a:endParaRPr lang="en-US"/>
          </a:p>
        </p:txBody>
      </p:sp>
    </p:spTree>
    <p:extLst>
      <p:ext uri="{BB962C8B-B14F-4D97-AF65-F5344CB8AC3E}">
        <p14:creationId xmlns:p14="http://schemas.microsoft.com/office/powerpoint/2010/main" val="3255078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C95CEA3-9253-4CBC-83F5-3402E9925334}" type="datetimeFigureOut">
              <a:rPr lang="en-US" smtClean="0"/>
              <a:t>7/24/2026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2EBA94-3AAD-4271-A21F-283CD153CB18}" type="slidenum">
              <a:rPr lang="en-US" smtClean="0"/>
              <a:t>‹#›</a:t>
            </a:fld>
            <a:endParaRPr lang="en-US"/>
          </a:p>
        </p:txBody>
      </p:sp>
    </p:spTree>
    <p:extLst>
      <p:ext uri="{BB962C8B-B14F-4D97-AF65-F5344CB8AC3E}">
        <p14:creationId xmlns:p14="http://schemas.microsoft.com/office/powerpoint/2010/main" val="1099954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C95CEA3-9253-4CBC-83F5-3402E9925334}" type="datetimeFigureOut">
              <a:rPr lang="en-US" smtClean="0"/>
              <a:t>7/24/2026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2EBA94-3AAD-4271-A21F-283CD153CB18}" type="slidenum">
              <a:rPr lang="en-US" smtClean="0"/>
              <a:t>‹#›</a:t>
            </a:fld>
            <a:endParaRPr lang="en-US"/>
          </a:p>
        </p:txBody>
      </p:sp>
    </p:spTree>
    <p:extLst>
      <p:ext uri="{BB962C8B-B14F-4D97-AF65-F5344CB8AC3E}">
        <p14:creationId xmlns:p14="http://schemas.microsoft.com/office/powerpoint/2010/main" val="3719401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95CEA3-9253-4CBC-83F5-3402E9925334}" type="datetimeFigureOut">
              <a:rPr lang="en-US" smtClean="0"/>
              <a:t>7/24/2026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2EBA94-3AAD-4271-A21F-283CD153CB18}" type="slidenum">
              <a:rPr lang="en-US" smtClean="0"/>
              <a:t>‹#›</a:t>
            </a:fld>
            <a:endParaRPr lang="en-US"/>
          </a:p>
        </p:txBody>
      </p:sp>
    </p:spTree>
    <p:extLst>
      <p:ext uri="{BB962C8B-B14F-4D97-AF65-F5344CB8AC3E}">
        <p14:creationId xmlns:p14="http://schemas.microsoft.com/office/powerpoint/2010/main" val="2933692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95CEA3-9253-4CBC-83F5-3402E9925334}"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2EBA94-3AAD-4271-A21F-283CD153CB18}" type="slidenum">
              <a:rPr lang="en-US" smtClean="0"/>
              <a:t>‹#›</a:t>
            </a:fld>
            <a:endParaRPr lang="en-US"/>
          </a:p>
        </p:txBody>
      </p:sp>
    </p:spTree>
    <p:extLst>
      <p:ext uri="{BB962C8B-B14F-4D97-AF65-F5344CB8AC3E}">
        <p14:creationId xmlns:p14="http://schemas.microsoft.com/office/powerpoint/2010/main" val="2649526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95CEA3-9253-4CBC-83F5-3402E9925334}"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2EBA94-3AAD-4271-A21F-283CD153CB18}" type="slidenum">
              <a:rPr lang="en-US" smtClean="0"/>
              <a:t>‹#›</a:t>
            </a:fld>
            <a:endParaRPr lang="en-US"/>
          </a:p>
        </p:txBody>
      </p:sp>
    </p:spTree>
    <p:extLst>
      <p:ext uri="{BB962C8B-B14F-4D97-AF65-F5344CB8AC3E}">
        <p14:creationId xmlns:p14="http://schemas.microsoft.com/office/powerpoint/2010/main" val="635559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95CEA3-9253-4CBC-83F5-3402E992533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2EBA94-3AAD-4271-A21F-283CD153CB18}" type="slidenum">
              <a:rPr lang="en-US" smtClean="0"/>
              <a:t>‹#›</a:t>
            </a:fld>
            <a:endParaRPr lang="en-US"/>
          </a:p>
        </p:txBody>
      </p:sp>
    </p:spTree>
    <p:extLst>
      <p:ext uri="{BB962C8B-B14F-4D97-AF65-F5344CB8AC3E}">
        <p14:creationId xmlns:p14="http://schemas.microsoft.com/office/powerpoint/2010/main" val="3590741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95CEA3-9253-4CBC-83F5-3402E992533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2EBA94-3AAD-4271-A21F-283CD153CB18}" type="slidenum">
              <a:rPr lang="en-US" smtClean="0"/>
              <a:t>‹#›</a:t>
            </a:fld>
            <a:endParaRPr lang="en-US"/>
          </a:p>
        </p:txBody>
      </p:sp>
    </p:spTree>
    <p:extLst>
      <p:ext uri="{BB962C8B-B14F-4D97-AF65-F5344CB8AC3E}">
        <p14:creationId xmlns:p14="http://schemas.microsoft.com/office/powerpoint/2010/main" val="3634352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95CEA3-9253-4CBC-83F5-3402E9925334}" type="datetimeFigureOut">
              <a:rPr lang="en-US" smtClean="0"/>
              <a:t>7/24/2026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2EBA94-3AAD-4271-A21F-283CD153CB18}" type="slidenum">
              <a:rPr lang="en-US" smtClean="0"/>
              <a:t>‹#›</a:t>
            </a:fld>
            <a:endParaRPr lang="en-US"/>
          </a:p>
        </p:txBody>
      </p:sp>
    </p:spTree>
    <p:extLst>
      <p:ext uri="{BB962C8B-B14F-4D97-AF65-F5344CB8AC3E}">
        <p14:creationId xmlns:p14="http://schemas.microsoft.com/office/powerpoint/2010/main" val="1186501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99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990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990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990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99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scriptingxss/owasp-fstm" TargetMode="External"/><Relationship Id="rId7" Type="http://schemas.openxmlformats.org/officeDocument/2006/relationships/hyperlink" Target="https://www.qemu.org/" TargetMode="External"/><Relationship Id="rId2" Type="http://schemas.openxmlformats.org/officeDocument/2006/relationships/hyperlink" Target="https://github.com/OWASP/IoTGoat" TargetMode="External"/><Relationship Id="rId1" Type="http://schemas.openxmlformats.org/officeDocument/2006/relationships/slideLayout" Target="../slideLayouts/slideLayout2.xml"/><Relationship Id="rId6" Type="http://schemas.openxmlformats.org/officeDocument/2006/relationships/hyperlink" Target="https://docs.docker.com/" TargetMode="External"/><Relationship Id="rId5" Type="http://schemas.openxmlformats.org/officeDocument/2006/relationships/hyperlink" Target="https://openwrt.org/" TargetMode="External"/><Relationship Id="rId4" Type="http://schemas.openxmlformats.org/officeDocument/2006/relationships/hyperlink" Target="https://github.com/OWASP/owasp-ist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97843" y="3429000"/>
            <a:ext cx="6196313" cy="1880886"/>
          </a:xfrm>
        </p:spPr>
        <p:txBody>
          <a:bodyPr>
            <a:noAutofit/>
          </a:bodyPr>
          <a:lstStyle/>
          <a:p>
            <a:br>
              <a:rPr lang="vi-VN" sz="3000" b="1" dirty="0">
                <a:solidFill>
                  <a:schemeClr val="tx1"/>
                </a:solidFill>
              </a:rPr>
            </a:br>
            <a:r>
              <a:rPr lang="vi-VN" sz="3000" b="1" dirty="0">
                <a:solidFill>
                  <a:schemeClr val="tx1"/>
                </a:solidFill>
              </a:rPr>
              <a:t>ĐỀ TÀI 30</a:t>
            </a:r>
            <a:br>
              <a:rPr lang="vi-VN" sz="3000" dirty="0">
                <a:solidFill>
                  <a:schemeClr val="tx1"/>
                </a:solidFill>
              </a:rPr>
            </a:br>
            <a:r>
              <a:rPr lang="vi-VN" sz="3000" b="1" dirty="0">
                <a:solidFill>
                  <a:schemeClr val="tx1"/>
                </a:solidFill>
              </a:rPr>
              <a:t>LỖ HỔNG FIRMWARE THIẾT BỊ IoT QUA OWASP IoTGoat</a:t>
            </a:r>
            <a:br>
              <a:rPr lang="vi-VN" sz="3000" dirty="0">
                <a:solidFill>
                  <a:schemeClr val="tx1"/>
                </a:solidFill>
              </a:rPr>
            </a:br>
            <a:r>
              <a:rPr lang="en-US" sz="3000" dirty="0" err="1">
                <a:solidFill>
                  <a:schemeClr val="tx1"/>
                </a:solidFill>
              </a:rPr>
              <a:t>Họ</a:t>
            </a:r>
            <a:r>
              <a:rPr lang="en-US" sz="3000" dirty="0">
                <a:solidFill>
                  <a:schemeClr val="tx1"/>
                </a:solidFill>
              </a:rPr>
              <a:t> </a:t>
            </a:r>
            <a:r>
              <a:rPr lang="en-US" sz="3000" dirty="0" err="1">
                <a:solidFill>
                  <a:schemeClr val="tx1"/>
                </a:solidFill>
              </a:rPr>
              <a:t>và</a:t>
            </a:r>
            <a:r>
              <a:rPr lang="en-US" sz="3000" dirty="0">
                <a:solidFill>
                  <a:schemeClr val="tx1"/>
                </a:solidFill>
              </a:rPr>
              <a:t> </a:t>
            </a:r>
            <a:r>
              <a:rPr lang="en-US" sz="3000" dirty="0" err="1">
                <a:solidFill>
                  <a:schemeClr val="tx1"/>
                </a:solidFill>
              </a:rPr>
              <a:t>tên</a:t>
            </a:r>
            <a:r>
              <a:rPr lang="en-US" sz="3000" dirty="0">
                <a:solidFill>
                  <a:schemeClr val="tx1"/>
                </a:solidFill>
              </a:rPr>
              <a:t>: Châu Nhật Hào</a:t>
            </a:r>
            <a:br>
              <a:rPr lang="en-US" sz="3000" dirty="0">
                <a:solidFill>
                  <a:schemeClr val="tx1"/>
                </a:solidFill>
              </a:rPr>
            </a:br>
            <a:r>
              <a:rPr lang="en-US" sz="3000" dirty="0" err="1">
                <a:solidFill>
                  <a:schemeClr val="tx1"/>
                </a:solidFill>
              </a:rPr>
              <a:t>Mssv</a:t>
            </a:r>
            <a:r>
              <a:rPr lang="en-US" sz="3000" dirty="0">
                <a:solidFill>
                  <a:schemeClr val="tx1"/>
                </a:solidFill>
              </a:rPr>
              <a:t>: 231A010504</a:t>
            </a:r>
            <a:br>
              <a:rPr lang="en-US" sz="3000" dirty="0">
                <a:solidFill>
                  <a:schemeClr val="tx1"/>
                </a:solidFill>
              </a:rPr>
            </a:br>
            <a:r>
              <a:rPr lang="en-US" sz="3000" dirty="0" err="1">
                <a:solidFill>
                  <a:schemeClr val="tx1"/>
                </a:solidFill>
              </a:rPr>
              <a:t>Tên</a:t>
            </a:r>
            <a:r>
              <a:rPr lang="en-US" sz="3000" dirty="0">
                <a:solidFill>
                  <a:schemeClr val="tx1"/>
                </a:solidFill>
              </a:rPr>
              <a:t> Học </a:t>
            </a:r>
            <a:r>
              <a:rPr lang="en-US" sz="3000" dirty="0" err="1">
                <a:solidFill>
                  <a:schemeClr val="tx1"/>
                </a:solidFill>
              </a:rPr>
              <a:t>phần</a:t>
            </a:r>
            <a:r>
              <a:rPr lang="en-US" sz="3000" dirty="0">
                <a:solidFill>
                  <a:schemeClr val="tx1"/>
                </a:solidFill>
              </a:rPr>
              <a:t>: Bảo </a:t>
            </a:r>
            <a:r>
              <a:rPr lang="en-US" sz="3000" dirty="0" err="1">
                <a:solidFill>
                  <a:schemeClr val="tx1"/>
                </a:solidFill>
              </a:rPr>
              <a:t>mật</a:t>
            </a:r>
            <a:r>
              <a:rPr lang="en-US" sz="3000" dirty="0">
                <a:solidFill>
                  <a:schemeClr val="tx1"/>
                </a:solidFill>
              </a:rPr>
              <a:t> </a:t>
            </a:r>
            <a:r>
              <a:rPr lang="en-US" sz="3000" dirty="0" err="1">
                <a:solidFill>
                  <a:schemeClr val="tx1"/>
                </a:solidFill>
              </a:rPr>
              <a:t>trong</a:t>
            </a:r>
            <a:r>
              <a:rPr lang="en-US" sz="3000" dirty="0">
                <a:solidFill>
                  <a:schemeClr val="tx1"/>
                </a:solidFill>
              </a:rPr>
              <a:t> IoT</a:t>
            </a:r>
            <a:br>
              <a:rPr lang="en-US" sz="3000" dirty="0">
                <a:solidFill>
                  <a:schemeClr val="tx1"/>
                </a:solidFill>
              </a:rPr>
            </a:br>
            <a:r>
              <a:rPr lang="en-US" sz="3000" dirty="0" err="1">
                <a:solidFill>
                  <a:schemeClr val="tx1"/>
                </a:solidFill>
              </a:rPr>
              <a:t>Lớp</a:t>
            </a:r>
            <a:r>
              <a:rPr lang="en-US" sz="3000" dirty="0">
                <a:solidFill>
                  <a:schemeClr val="tx1"/>
                </a:solidFill>
              </a:rPr>
              <a:t> </a:t>
            </a:r>
            <a:r>
              <a:rPr lang="en-US" sz="3000" dirty="0" err="1">
                <a:solidFill>
                  <a:schemeClr val="tx1"/>
                </a:solidFill>
              </a:rPr>
              <a:t>học</a:t>
            </a:r>
            <a:r>
              <a:rPr lang="en-US" sz="3000" dirty="0">
                <a:solidFill>
                  <a:schemeClr val="tx1"/>
                </a:solidFill>
              </a:rPr>
              <a:t> </a:t>
            </a:r>
            <a:r>
              <a:rPr lang="en-US" sz="3000" dirty="0" err="1">
                <a:solidFill>
                  <a:schemeClr val="tx1"/>
                </a:solidFill>
              </a:rPr>
              <a:t>phần</a:t>
            </a:r>
            <a:r>
              <a:rPr lang="en-US" sz="3000" dirty="0">
                <a:solidFill>
                  <a:schemeClr val="tx1"/>
                </a:solidFill>
              </a:rPr>
              <a:t>: 253INT441001</a:t>
            </a:r>
            <a:br>
              <a:rPr lang="vi-VN" sz="3000" dirty="0">
                <a:solidFill>
                  <a:schemeClr val="tx1"/>
                </a:solidFill>
              </a:rPr>
            </a:br>
            <a:r>
              <a:rPr lang="vi-VN" sz="3000" dirty="0">
                <a:solidFill>
                  <a:schemeClr val="tx1"/>
                </a:solidFill>
              </a:rPr>
              <a:t>Giảng viên hướng dẫn: </a:t>
            </a:r>
            <a:r>
              <a:rPr lang="en-US" sz="3000" dirty="0" err="1">
                <a:solidFill>
                  <a:schemeClr val="tx1"/>
                </a:solidFill>
              </a:rPr>
              <a:t>Hồ</a:t>
            </a:r>
            <a:r>
              <a:rPr lang="en-US" sz="3000" dirty="0">
                <a:solidFill>
                  <a:schemeClr val="tx1"/>
                </a:solidFill>
              </a:rPr>
              <a:t> </a:t>
            </a:r>
            <a:r>
              <a:rPr lang="en-US" sz="3000" dirty="0" err="1">
                <a:solidFill>
                  <a:schemeClr val="tx1"/>
                </a:solidFill>
              </a:rPr>
              <a:t>Nhựt</a:t>
            </a:r>
            <a:r>
              <a:rPr lang="en-US" sz="3000" dirty="0">
                <a:solidFill>
                  <a:schemeClr val="tx1"/>
                </a:solidFill>
              </a:rPr>
              <a:t> Minh</a:t>
            </a:r>
            <a:br>
              <a:rPr lang="vi-VN" sz="3000" dirty="0">
                <a:solidFill>
                  <a:schemeClr val="tx1"/>
                </a:solidFill>
              </a:rPr>
            </a:br>
            <a:endParaRPr lang="en-US" sz="3000" dirty="0">
              <a:solidFill>
                <a:schemeClr val="tx1"/>
              </a:solidFill>
            </a:endParaRPr>
          </a:p>
        </p:txBody>
      </p:sp>
    </p:spTree>
    <p:extLst>
      <p:ext uri="{BB962C8B-B14F-4D97-AF65-F5344CB8AC3E}">
        <p14:creationId xmlns:p14="http://schemas.microsoft.com/office/powerpoint/2010/main" val="26243092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3556" y="957522"/>
            <a:ext cx="10515600" cy="2092406"/>
          </a:xfrm>
        </p:spPr>
        <p:txBody>
          <a:bodyPr>
            <a:normAutofit/>
          </a:bodyPr>
          <a:lstStyle/>
          <a:p>
            <a:pPr marL="0" indent="0">
              <a:buNone/>
            </a:pPr>
            <a:r>
              <a:rPr lang="vi-VN" sz="1800" b="1" dirty="0">
                <a:solidFill>
                  <a:schemeClr val="tx1"/>
                </a:solidFill>
                <a:latin typeface="HungHau"/>
              </a:rPr>
              <a:t>Vấn đề bảo mật</a:t>
            </a:r>
            <a:r>
              <a:rPr lang="en-US" sz="1800" b="1" dirty="0">
                <a:solidFill>
                  <a:schemeClr val="tx1"/>
                </a:solidFill>
                <a:latin typeface="HungHau"/>
              </a:rPr>
              <a:t>:</a:t>
            </a:r>
            <a:endParaRPr lang="vi-VN" sz="1800" b="1" dirty="0">
              <a:solidFill>
                <a:schemeClr val="tx1"/>
              </a:solidFill>
              <a:latin typeface="HungHau"/>
            </a:endParaRPr>
          </a:p>
          <a:p>
            <a:r>
              <a:rPr lang="vi-VN" sz="1800" dirty="0">
                <a:solidFill>
                  <a:schemeClr val="tx1"/>
                </a:solidFill>
                <a:latin typeface="HungHau"/>
              </a:rPr>
              <a:t>Firmware là thành phần cốt lõi điều khiển hoạt động của thiết bị IoT. </a:t>
            </a:r>
          </a:p>
          <a:p>
            <a:r>
              <a:rPr lang="vi-VN" sz="1800" dirty="0">
                <a:solidFill>
                  <a:schemeClr val="tx1"/>
                </a:solidFill>
                <a:latin typeface="HungHau"/>
              </a:rPr>
              <a:t>Lỗ hổng trong firmware có thể tạo điều kiện cho truy cập trái phép, rò rỉ dữ liệu hoặc chiếm quyền điều khiển thiết bị. </a:t>
            </a:r>
          </a:p>
          <a:p>
            <a:r>
              <a:rPr lang="vi-VN" sz="1800" dirty="0">
                <a:solidFill>
                  <a:schemeClr val="tx1"/>
                </a:solidFill>
                <a:latin typeface="HungHau"/>
              </a:rPr>
              <a:t>OWASP IoTGoat cung cấp môi trường firmware có chủ đích chứa lỗ hổng để phục vụ nghiên cứu và thực hành.</a:t>
            </a:r>
          </a:p>
          <a:p>
            <a:endParaRPr lang="en-US" sz="1800" dirty="0">
              <a:solidFill>
                <a:schemeClr val="tx1"/>
              </a:solidFill>
              <a:latin typeface="HungHau"/>
            </a:endParaRPr>
          </a:p>
        </p:txBody>
      </p:sp>
      <p:sp>
        <p:nvSpPr>
          <p:cNvPr id="4" name="TextBox 3">
            <a:extLst>
              <a:ext uri="{FF2B5EF4-FFF2-40B4-BE49-F238E27FC236}">
                <a16:creationId xmlns:a16="http://schemas.microsoft.com/office/drawing/2014/main" id="{F9424477-8F29-37FF-F85F-6E9545915BFA}"/>
              </a:ext>
            </a:extLst>
          </p:cNvPr>
          <p:cNvSpPr txBox="1"/>
          <p:nvPr/>
        </p:nvSpPr>
        <p:spPr>
          <a:xfrm>
            <a:off x="583556" y="3049928"/>
            <a:ext cx="6643868" cy="2031325"/>
          </a:xfrm>
          <a:prstGeom prst="rect">
            <a:avLst/>
          </a:prstGeom>
          <a:noFill/>
        </p:spPr>
        <p:txBody>
          <a:bodyPr wrap="square" rtlCol="0">
            <a:spAutoFit/>
          </a:bodyPr>
          <a:lstStyle/>
          <a:p>
            <a:r>
              <a:rPr lang="en-US" b="1" dirty="0" err="1">
                <a:latin typeface="HungHau"/>
              </a:rPr>
              <a:t>Mục</a:t>
            </a:r>
            <a:r>
              <a:rPr lang="en-US" b="1" dirty="0">
                <a:latin typeface="HungHau"/>
              </a:rPr>
              <a:t> </a:t>
            </a:r>
            <a:r>
              <a:rPr lang="en-US" b="1" dirty="0" err="1">
                <a:latin typeface="HungHau"/>
              </a:rPr>
              <a:t>tiêu</a:t>
            </a:r>
            <a:endParaRPr lang="en-US" b="1" dirty="0">
              <a:latin typeface="HungHau"/>
            </a:endParaRPr>
          </a:p>
          <a:p>
            <a:pPr marL="285750" indent="-285750">
              <a:buFont typeface="Arial" panose="020B0604020202020204" pitchFamily="34" charset="0"/>
              <a:buChar char="•"/>
            </a:pPr>
            <a:r>
              <a:rPr lang="en-US" dirty="0" err="1">
                <a:latin typeface="HungHau"/>
              </a:rPr>
              <a:t>Triển</a:t>
            </a:r>
            <a:r>
              <a:rPr lang="en-US" dirty="0">
                <a:latin typeface="HungHau"/>
              </a:rPr>
              <a:t> </a:t>
            </a:r>
            <a:r>
              <a:rPr lang="en-US" dirty="0" err="1">
                <a:latin typeface="HungHau"/>
              </a:rPr>
              <a:t>khai</a:t>
            </a:r>
            <a:r>
              <a:rPr lang="en-US" dirty="0">
                <a:latin typeface="HungHau"/>
              </a:rPr>
              <a:t> </a:t>
            </a:r>
            <a:r>
              <a:rPr lang="en-US" dirty="0" err="1">
                <a:latin typeface="HungHau"/>
              </a:rPr>
              <a:t>thành</a:t>
            </a:r>
            <a:r>
              <a:rPr lang="en-US" dirty="0">
                <a:latin typeface="HungHau"/>
              </a:rPr>
              <a:t> </a:t>
            </a:r>
            <a:r>
              <a:rPr lang="en-US" dirty="0" err="1">
                <a:latin typeface="HungHau"/>
              </a:rPr>
              <a:t>công</a:t>
            </a:r>
            <a:r>
              <a:rPr lang="en-US" dirty="0">
                <a:latin typeface="HungHau"/>
              </a:rPr>
              <a:t> firmware OWASP </a:t>
            </a:r>
            <a:r>
              <a:rPr lang="en-US" dirty="0" err="1">
                <a:latin typeface="HungHau"/>
              </a:rPr>
              <a:t>IoTGoat</a:t>
            </a:r>
            <a:r>
              <a:rPr lang="en-US" dirty="0">
                <a:latin typeface="HungHau"/>
              </a:rPr>
              <a:t>. </a:t>
            </a:r>
          </a:p>
          <a:p>
            <a:pPr marL="285750" indent="-285750">
              <a:buFont typeface="Arial" panose="020B0604020202020204" pitchFamily="34" charset="0"/>
              <a:buChar char="•"/>
            </a:pPr>
            <a:r>
              <a:rPr lang="en-US" dirty="0">
                <a:latin typeface="HungHau"/>
              </a:rPr>
              <a:t>Thu </a:t>
            </a:r>
            <a:r>
              <a:rPr lang="en-US" dirty="0" err="1">
                <a:latin typeface="HungHau"/>
              </a:rPr>
              <a:t>thập</a:t>
            </a:r>
            <a:r>
              <a:rPr lang="en-US" dirty="0">
                <a:latin typeface="HungHau"/>
              </a:rPr>
              <a:t> </a:t>
            </a:r>
            <a:r>
              <a:rPr lang="en-US" dirty="0" err="1">
                <a:latin typeface="HungHau"/>
              </a:rPr>
              <a:t>thông</a:t>
            </a:r>
            <a:r>
              <a:rPr lang="en-US" dirty="0">
                <a:latin typeface="HungHau"/>
              </a:rPr>
              <a:t> tin firmware </a:t>
            </a:r>
            <a:r>
              <a:rPr lang="en-US" dirty="0" err="1">
                <a:latin typeface="HungHau"/>
              </a:rPr>
              <a:t>theo</a:t>
            </a:r>
            <a:r>
              <a:rPr lang="en-US" dirty="0">
                <a:latin typeface="HungHau"/>
              </a:rPr>
              <a:t> OWASP FSTM. </a:t>
            </a:r>
          </a:p>
          <a:p>
            <a:pPr marL="285750" indent="-285750">
              <a:buFont typeface="Arial" panose="020B0604020202020204" pitchFamily="34" charset="0"/>
              <a:buChar char="•"/>
            </a:pPr>
            <a:r>
              <a:rPr lang="en-US" dirty="0" err="1">
                <a:latin typeface="HungHau"/>
              </a:rPr>
              <a:t>Phân</a:t>
            </a:r>
            <a:r>
              <a:rPr lang="en-US" dirty="0">
                <a:latin typeface="HungHau"/>
              </a:rPr>
              <a:t> </a:t>
            </a:r>
            <a:r>
              <a:rPr lang="en-US" dirty="0" err="1">
                <a:latin typeface="HungHau"/>
              </a:rPr>
              <a:t>tích</a:t>
            </a:r>
            <a:r>
              <a:rPr lang="en-US" dirty="0">
                <a:latin typeface="HungHau"/>
              </a:rPr>
              <a:t> </a:t>
            </a:r>
            <a:r>
              <a:rPr lang="en-US" dirty="0" err="1">
                <a:latin typeface="HungHau"/>
              </a:rPr>
              <a:t>cấu</a:t>
            </a:r>
            <a:r>
              <a:rPr lang="en-US" dirty="0">
                <a:latin typeface="HungHau"/>
              </a:rPr>
              <a:t> </a:t>
            </a:r>
            <a:r>
              <a:rPr lang="en-US" dirty="0" err="1">
                <a:latin typeface="HungHau"/>
              </a:rPr>
              <a:t>hình</a:t>
            </a:r>
            <a:r>
              <a:rPr lang="en-US" dirty="0">
                <a:latin typeface="HungHau"/>
              </a:rPr>
              <a:t> </a:t>
            </a:r>
            <a:r>
              <a:rPr lang="en-US" dirty="0" err="1">
                <a:latin typeface="HungHau"/>
              </a:rPr>
              <a:t>và</a:t>
            </a:r>
            <a:r>
              <a:rPr lang="en-US" dirty="0">
                <a:latin typeface="HungHau"/>
              </a:rPr>
              <a:t> </a:t>
            </a:r>
            <a:r>
              <a:rPr lang="en-US" dirty="0" err="1">
                <a:latin typeface="HungHau"/>
              </a:rPr>
              <a:t>dịch</a:t>
            </a:r>
            <a:r>
              <a:rPr lang="en-US" dirty="0">
                <a:latin typeface="HungHau"/>
              </a:rPr>
              <a:t> </a:t>
            </a:r>
            <a:r>
              <a:rPr lang="en-US" dirty="0" err="1">
                <a:latin typeface="HungHau"/>
              </a:rPr>
              <a:t>vụ</a:t>
            </a:r>
            <a:r>
              <a:rPr lang="en-US" dirty="0">
                <a:latin typeface="HungHau"/>
              </a:rPr>
              <a:t> </a:t>
            </a:r>
            <a:r>
              <a:rPr lang="en-US" dirty="0" err="1">
                <a:latin typeface="HungHau"/>
              </a:rPr>
              <a:t>đang</a:t>
            </a:r>
            <a:r>
              <a:rPr lang="en-US" dirty="0">
                <a:latin typeface="HungHau"/>
              </a:rPr>
              <a:t> </a:t>
            </a:r>
            <a:r>
              <a:rPr lang="en-US" dirty="0" err="1">
                <a:latin typeface="HungHau"/>
              </a:rPr>
              <a:t>hoạt</a:t>
            </a:r>
            <a:r>
              <a:rPr lang="en-US" dirty="0">
                <a:latin typeface="HungHau"/>
              </a:rPr>
              <a:t> </a:t>
            </a:r>
            <a:r>
              <a:rPr lang="en-US" dirty="0" err="1">
                <a:latin typeface="HungHau"/>
              </a:rPr>
              <a:t>động</a:t>
            </a:r>
            <a:r>
              <a:rPr lang="en-US" dirty="0">
                <a:latin typeface="HungHau"/>
              </a:rPr>
              <a:t>. </a:t>
            </a:r>
          </a:p>
          <a:p>
            <a:pPr marL="285750" indent="-285750">
              <a:buFont typeface="Arial" panose="020B0604020202020204" pitchFamily="34" charset="0"/>
              <a:buChar char="•"/>
            </a:pPr>
            <a:r>
              <a:rPr lang="en-US" dirty="0" err="1">
                <a:latin typeface="HungHau"/>
              </a:rPr>
              <a:t>Đánh</a:t>
            </a:r>
            <a:r>
              <a:rPr lang="en-US" dirty="0">
                <a:latin typeface="HungHau"/>
              </a:rPr>
              <a:t> </a:t>
            </a:r>
            <a:r>
              <a:rPr lang="en-US" dirty="0" err="1">
                <a:latin typeface="HungHau"/>
              </a:rPr>
              <a:t>giá</a:t>
            </a:r>
            <a:r>
              <a:rPr lang="en-US" dirty="0">
                <a:latin typeface="HungHau"/>
              </a:rPr>
              <a:t> </a:t>
            </a:r>
            <a:r>
              <a:rPr lang="en-US" dirty="0" err="1">
                <a:latin typeface="HungHau"/>
              </a:rPr>
              <a:t>một</a:t>
            </a:r>
            <a:r>
              <a:rPr lang="en-US" dirty="0">
                <a:latin typeface="HungHau"/>
              </a:rPr>
              <a:t> </a:t>
            </a:r>
            <a:r>
              <a:rPr lang="en-US" dirty="0" err="1">
                <a:latin typeface="HungHau"/>
              </a:rPr>
              <a:t>số</a:t>
            </a:r>
            <a:r>
              <a:rPr lang="en-US" dirty="0">
                <a:latin typeface="HungHau"/>
              </a:rPr>
              <a:t> </a:t>
            </a:r>
            <a:r>
              <a:rPr lang="en-US" dirty="0" err="1">
                <a:latin typeface="HungHau"/>
              </a:rPr>
              <a:t>lỗ</a:t>
            </a:r>
            <a:r>
              <a:rPr lang="en-US" dirty="0">
                <a:latin typeface="HungHau"/>
              </a:rPr>
              <a:t> </a:t>
            </a:r>
            <a:r>
              <a:rPr lang="en-US" dirty="0" err="1">
                <a:latin typeface="HungHau"/>
              </a:rPr>
              <a:t>hổng</a:t>
            </a:r>
            <a:r>
              <a:rPr lang="en-US" dirty="0">
                <a:latin typeface="HungHau"/>
              </a:rPr>
              <a:t> </a:t>
            </a:r>
            <a:r>
              <a:rPr lang="en-US" dirty="0" err="1">
                <a:latin typeface="HungHau"/>
              </a:rPr>
              <a:t>bảo</a:t>
            </a:r>
            <a:r>
              <a:rPr lang="en-US" dirty="0">
                <a:latin typeface="HungHau"/>
              </a:rPr>
              <a:t> </a:t>
            </a:r>
            <a:r>
              <a:rPr lang="en-US" dirty="0" err="1">
                <a:latin typeface="HungHau"/>
              </a:rPr>
              <a:t>mật</a:t>
            </a:r>
            <a:r>
              <a:rPr lang="en-US" dirty="0">
                <a:latin typeface="HungHau"/>
              </a:rPr>
              <a:t>. </a:t>
            </a:r>
          </a:p>
          <a:p>
            <a:pPr marL="285750" indent="-285750">
              <a:buFont typeface="Arial" panose="020B0604020202020204" pitchFamily="34" charset="0"/>
              <a:buChar char="•"/>
            </a:pPr>
            <a:r>
              <a:rPr lang="en-US" dirty="0" err="1">
                <a:latin typeface="HungHau"/>
              </a:rPr>
              <a:t>Đề</a:t>
            </a:r>
            <a:r>
              <a:rPr lang="en-US" dirty="0">
                <a:latin typeface="HungHau"/>
              </a:rPr>
              <a:t> </a:t>
            </a:r>
            <a:r>
              <a:rPr lang="en-US" dirty="0" err="1">
                <a:latin typeface="HungHau"/>
              </a:rPr>
              <a:t>xuất</a:t>
            </a:r>
            <a:r>
              <a:rPr lang="en-US" dirty="0">
                <a:latin typeface="HungHau"/>
              </a:rPr>
              <a:t> </a:t>
            </a:r>
            <a:r>
              <a:rPr lang="en-US" dirty="0" err="1">
                <a:latin typeface="HungHau"/>
              </a:rPr>
              <a:t>biện</a:t>
            </a:r>
            <a:r>
              <a:rPr lang="en-US" dirty="0">
                <a:latin typeface="HungHau"/>
              </a:rPr>
              <a:t> </a:t>
            </a:r>
            <a:r>
              <a:rPr lang="en-US" dirty="0" err="1">
                <a:latin typeface="HungHau"/>
              </a:rPr>
              <a:t>pháp</a:t>
            </a:r>
            <a:r>
              <a:rPr lang="en-US" dirty="0">
                <a:latin typeface="HungHau"/>
              </a:rPr>
              <a:t> </a:t>
            </a:r>
            <a:r>
              <a:rPr lang="en-US" dirty="0" err="1">
                <a:latin typeface="HungHau"/>
              </a:rPr>
              <a:t>giảm</a:t>
            </a:r>
            <a:r>
              <a:rPr lang="en-US" dirty="0">
                <a:latin typeface="HungHau"/>
              </a:rPr>
              <a:t> </a:t>
            </a:r>
            <a:r>
              <a:rPr lang="en-US" dirty="0" err="1">
                <a:latin typeface="HungHau"/>
              </a:rPr>
              <a:t>thiểu</a:t>
            </a:r>
            <a:r>
              <a:rPr lang="en-US" dirty="0">
                <a:latin typeface="HungHau"/>
              </a:rPr>
              <a:t>.</a:t>
            </a:r>
          </a:p>
          <a:p>
            <a:endParaRPr lang="en-US" dirty="0">
              <a:latin typeface="HungHau"/>
            </a:endParaRPr>
          </a:p>
        </p:txBody>
      </p:sp>
      <p:pic>
        <p:nvPicPr>
          <p:cNvPr id="6" name="Picture 5">
            <a:extLst>
              <a:ext uri="{FF2B5EF4-FFF2-40B4-BE49-F238E27FC236}">
                <a16:creationId xmlns:a16="http://schemas.microsoft.com/office/drawing/2014/main" id="{42983906-5B46-C91C-1A2D-5730ACC58B54}"/>
              </a:ext>
            </a:extLst>
          </p:cNvPr>
          <p:cNvPicPr>
            <a:picLocks noChangeAspect="1"/>
          </p:cNvPicPr>
          <p:nvPr/>
        </p:nvPicPr>
        <p:blipFill>
          <a:blip r:embed="rId2"/>
          <a:stretch>
            <a:fillRect/>
          </a:stretch>
        </p:blipFill>
        <p:spPr>
          <a:xfrm>
            <a:off x="5590571" y="2788949"/>
            <a:ext cx="6286149" cy="3710236"/>
          </a:xfrm>
          <a:prstGeom prst="rect">
            <a:avLst/>
          </a:prstGeom>
        </p:spPr>
      </p:pic>
    </p:spTree>
    <p:extLst>
      <p:ext uri="{BB962C8B-B14F-4D97-AF65-F5344CB8AC3E}">
        <p14:creationId xmlns:p14="http://schemas.microsoft.com/office/powerpoint/2010/main" val="33395735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4963"/>
            <a:ext cx="10515600" cy="1325563"/>
          </a:xfrm>
        </p:spPr>
        <p:txBody>
          <a:bodyPr>
            <a:noAutofit/>
          </a:bodyPr>
          <a:lstStyle/>
          <a:p>
            <a:r>
              <a:rPr lang="vi-VN" sz="1800" b="1" dirty="0">
                <a:solidFill>
                  <a:schemeClr val="tx1"/>
                </a:solidFill>
              </a:rPr>
              <a:t>Kiến thức nền</a:t>
            </a:r>
            <a:br>
              <a:rPr lang="vi-VN" sz="1800" b="1" dirty="0">
                <a:solidFill>
                  <a:schemeClr val="tx1"/>
                </a:solidFill>
              </a:rPr>
            </a:br>
            <a:r>
              <a:rPr lang="vi-VN" sz="1800" b="1" dirty="0">
                <a:solidFill>
                  <a:schemeClr val="tx1"/>
                </a:solidFill>
              </a:rPr>
              <a:t>Firmware IoT:</a:t>
            </a:r>
            <a:r>
              <a:rPr lang="vi-VN" sz="1800" dirty="0">
                <a:solidFill>
                  <a:schemeClr val="tx1"/>
                </a:solidFill>
              </a:rPr>
              <a:t> Phần mềm điều khiển hoạt động của thiết bị IoT. </a:t>
            </a:r>
            <a:br>
              <a:rPr lang="vi-VN" sz="1800" dirty="0">
                <a:solidFill>
                  <a:schemeClr val="tx1"/>
                </a:solidFill>
              </a:rPr>
            </a:br>
            <a:r>
              <a:rPr lang="vi-VN" sz="1800" b="1" dirty="0">
                <a:solidFill>
                  <a:schemeClr val="tx1"/>
                </a:solidFill>
              </a:rPr>
              <a:t>OpenWrt:</a:t>
            </a:r>
            <a:r>
              <a:rPr lang="vi-VN" sz="1800" dirty="0">
                <a:solidFill>
                  <a:schemeClr val="tx1"/>
                </a:solidFill>
              </a:rPr>
              <a:t> Hệ điều hành mã nguồn mở dùng cho thiết bị mạng. </a:t>
            </a:r>
            <a:br>
              <a:rPr lang="vi-VN" sz="1800" dirty="0">
                <a:solidFill>
                  <a:schemeClr val="tx1"/>
                </a:solidFill>
              </a:rPr>
            </a:br>
            <a:r>
              <a:rPr lang="vi-VN" sz="1800" b="1" dirty="0">
                <a:solidFill>
                  <a:schemeClr val="tx1"/>
                </a:solidFill>
              </a:rPr>
              <a:t>OWASP IoTGoat:</a:t>
            </a:r>
            <a:r>
              <a:rPr lang="vi-VN" sz="1800" dirty="0">
                <a:solidFill>
                  <a:schemeClr val="tx1"/>
                </a:solidFill>
              </a:rPr>
              <a:t> Firmware chứa các lỗ hổng có chủ đích phục vụ học tập. </a:t>
            </a:r>
            <a:br>
              <a:rPr lang="vi-VN" sz="1800" dirty="0">
                <a:solidFill>
                  <a:schemeClr val="tx1"/>
                </a:solidFill>
              </a:rPr>
            </a:br>
            <a:r>
              <a:rPr lang="vi-VN" sz="1800" b="1" dirty="0">
                <a:solidFill>
                  <a:schemeClr val="tx1"/>
                </a:solidFill>
              </a:rPr>
              <a:t>OWASP FSTM:</a:t>
            </a:r>
            <a:r>
              <a:rPr lang="vi-VN" sz="1800" dirty="0">
                <a:solidFill>
                  <a:schemeClr val="tx1"/>
                </a:solidFill>
              </a:rPr>
              <a:t> Phương pháp thu thập và đánh giá bảo mật firmware. </a:t>
            </a:r>
            <a:br>
              <a:rPr lang="vi-VN" sz="1800" dirty="0">
                <a:solidFill>
                  <a:schemeClr val="tx1"/>
                </a:solidFill>
              </a:rPr>
            </a:br>
            <a:endParaRPr lang="en-US" sz="1800" dirty="0">
              <a:solidFill>
                <a:schemeClr val="tx1"/>
              </a:solidFill>
            </a:endParaRPr>
          </a:p>
        </p:txBody>
      </p:sp>
      <p:graphicFrame>
        <p:nvGraphicFramePr>
          <p:cNvPr id="4" name="Content Placeholder 3">
            <a:extLst>
              <a:ext uri="{FF2B5EF4-FFF2-40B4-BE49-F238E27FC236}">
                <a16:creationId xmlns:a16="http://schemas.microsoft.com/office/drawing/2014/main" id="{C331002A-B549-897D-4177-1F454A487A8B}"/>
              </a:ext>
            </a:extLst>
          </p:cNvPr>
          <p:cNvGraphicFramePr>
            <a:graphicFrameLocks noGrp="1"/>
          </p:cNvGraphicFramePr>
          <p:nvPr>
            <p:ph idx="1"/>
            <p:extLst>
              <p:ext uri="{D42A27DB-BD31-4B8C-83A1-F6EECF244321}">
                <p14:modId xmlns:p14="http://schemas.microsoft.com/office/powerpoint/2010/main" val="472413830"/>
              </p:ext>
            </p:extLst>
          </p:nvPr>
        </p:nvGraphicFramePr>
        <p:xfrm>
          <a:off x="838198" y="2690406"/>
          <a:ext cx="9092879" cy="2468880"/>
        </p:xfrm>
        <a:graphic>
          <a:graphicData uri="http://schemas.openxmlformats.org/drawingml/2006/table">
            <a:tbl>
              <a:tblPr/>
              <a:tblGrid>
                <a:gridCol w="1662273">
                  <a:extLst>
                    <a:ext uri="{9D8B030D-6E8A-4147-A177-3AD203B41FA5}">
                      <a16:colId xmlns:a16="http://schemas.microsoft.com/office/drawing/2014/main" val="1180717770"/>
                    </a:ext>
                  </a:extLst>
                </a:gridCol>
                <a:gridCol w="7430606">
                  <a:extLst>
                    <a:ext uri="{9D8B030D-6E8A-4147-A177-3AD203B41FA5}">
                      <a16:colId xmlns:a16="http://schemas.microsoft.com/office/drawing/2014/main" val="178563703"/>
                    </a:ext>
                  </a:extLst>
                </a:gridCol>
              </a:tblGrid>
              <a:tr h="0">
                <a:tc>
                  <a:txBody>
                    <a:bodyPr/>
                    <a:lstStyle/>
                    <a:p>
                      <a:pPr>
                        <a:buNone/>
                      </a:pPr>
                      <a:r>
                        <a:rPr lang="en-US" dirty="0">
                          <a:latin typeface="HungHau"/>
                        </a:rPr>
                        <a:t>Công </a:t>
                      </a:r>
                      <a:r>
                        <a:rPr lang="en-US" dirty="0" err="1">
                          <a:latin typeface="HungHau"/>
                        </a:rPr>
                        <a:t>cụ</a:t>
                      </a:r>
                      <a:endParaRPr lang="en-US" dirty="0">
                        <a:latin typeface="HungHau"/>
                      </a:endParaRPr>
                    </a:p>
                  </a:txBody>
                  <a:tcPr anchor="ctr">
                    <a:lnL>
                      <a:noFill/>
                    </a:lnL>
                    <a:lnR>
                      <a:noFill/>
                    </a:lnR>
                    <a:lnT>
                      <a:noFill/>
                    </a:lnT>
                    <a:lnB>
                      <a:noFill/>
                    </a:lnB>
                    <a:noFill/>
                  </a:tcPr>
                </a:tc>
                <a:tc>
                  <a:txBody>
                    <a:bodyPr/>
                    <a:lstStyle/>
                    <a:p>
                      <a:pPr>
                        <a:buNone/>
                      </a:pPr>
                      <a:r>
                        <a:rPr lang="en-US">
                          <a:latin typeface="HungHau"/>
                        </a:rPr>
                        <a:t>Vai trò</a:t>
                      </a:r>
                    </a:p>
                  </a:txBody>
                  <a:tcPr anchor="ctr">
                    <a:lnL>
                      <a:noFill/>
                    </a:lnL>
                    <a:lnR>
                      <a:noFill/>
                    </a:lnR>
                    <a:lnT>
                      <a:noFill/>
                    </a:lnT>
                    <a:lnB>
                      <a:noFill/>
                    </a:lnB>
                    <a:noFill/>
                  </a:tcPr>
                </a:tc>
                <a:extLst>
                  <a:ext uri="{0D108BD9-81ED-4DB2-BD59-A6C34878D82A}">
                    <a16:rowId xmlns:a16="http://schemas.microsoft.com/office/drawing/2014/main" val="2567739067"/>
                  </a:ext>
                </a:extLst>
              </a:tr>
              <a:tr h="0">
                <a:tc>
                  <a:txBody>
                    <a:bodyPr/>
                    <a:lstStyle/>
                    <a:p>
                      <a:pPr>
                        <a:buNone/>
                      </a:pPr>
                      <a:r>
                        <a:rPr lang="en-US" dirty="0">
                          <a:latin typeface="HungHau"/>
                        </a:rPr>
                        <a:t>Docker Desktop</a:t>
                      </a:r>
                    </a:p>
                  </a:txBody>
                  <a:tcPr anchor="ctr">
                    <a:lnL>
                      <a:noFill/>
                    </a:lnL>
                    <a:lnR>
                      <a:noFill/>
                    </a:lnR>
                    <a:lnT>
                      <a:noFill/>
                    </a:lnT>
                    <a:lnB>
                      <a:noFill/>
                    </a:lnB>
                    <a:noFill/>
                  </a:tcPr>
                </a:tc>
                <a:tc>
                  <a:txBody>
                    <a:bodyPr/>
                    <a:lstStyle/>
                    <a:p>
                      <a:pPr>
                        <a:buNone/>
                      </a:pPr>
                      <a:r>
                        <a:rPr lang="vi-VN" dirty="0">
                          <a:latin typeface="HungHau"/>
                        </a:rPr>
                        <a:t>Triển khai môi trường thực nghiệm</a:t>
                      </a:r>
                    </a:p>
                  </a:txBody>
                  <a:tcPr anchor="ctr">
                    <a:lnL>
                      <a:noFill/>
                    </a:lnL>
                    <a:lnR>
                      <a:noFill/>
                    </a:lnR>
                    <a:lnT>
                      <a:noFill/>
                    </a:lnT>
                    <a:lnB>
                      <a:noFill/>
                    </a:lnB>
                    <a:noFill/>
                  </a:tcPr>
                </a:tc>
                <a:extLst>
                  <a:ext uri="{0D108BD9-81ED-4DB2-BD59-A6C34878D82A}">
                    <a16:rowId xmlns:a16="http://schemas.microsoft.com/office/drawing/2014/main" val="1162154937"/>
                  </a:ext>
                </a:extLst>
              </a:tr>
              <a:tr h="0">
                <a:tc>
                  <a:txBody>
                    <a:bodyPr/>
                    <a:lstStyle/>
                    <a:p>
                      <a:pPr>
                        <a:buNone/>
                      </a:pPr>
                      <a:r>
                        <a:rPr lang="en-US">
                          <a:latin typeface="HungHau"/>
                        </a:rPr>
                        <a:t>QEMU</a:t>
                      </a:r>
                    </a:p>
                  </a:txBody>
                  <a:tcPr anchor="ctr">
                    <a:lnL>
                      <a:noFill/>
                    </a:lnL>
                    <a:lnR>
                      <a:noFill/>
                    </a:lnR>
                    <a:lnT>
                      <a:noFill/>
                    </a:lnT>
                    <a:lnB>
                      <a:noFill/>
                    </a:lnB>
                    <a:noFill/>
                  </a:tcPr>
                </a:tc>
                <a:tc>
                  <a:txBody>
                    <a:bodyPr/>
                    <a:lstStyle/>
                    <a:p>
                      <a:pPr>
                        <a:buNone/>
                      </a:pPr>
                      <a:r>
                        <a:rPr lang="en-US" dirty="0" err="1">
                          <a:latin typeface="HungHau"/>
                        </a:rPr>
                        <a:t>Giả</a:t>
                      </a:r>
                      <a:r>
                        <a:rPr lang="en-US" dirty="0">
                          <a:latin typeface="HungHau"/>
                        </a:rPr>
                        <a:t> </a:t>
                      </a:r>
                      <a:r>
                        <a:rPr lang="en-US" dirty="0" err="1">
                          <a:latin typeface="HungHau"/>
                        </a:rPr>
                        <a:t>lập</a:t>
                      </a:r>
                      <a:r>
                        <a:rPr lang="en-US" dirty="0">
                          <a:latin typeface="HungHau"/>
                        </a:rPr>
                        <a:t> firmware </a:t>
                      </a:r>
                      <a:r>
                        <a:rPr lang="en-US" dirty="0" err="1">
                          <a:latin typeface="HungHau"/>
                        </a:rPr>
                        <a:t>OpenWrt</a:t>
                      </a:r>
                      <a:endParaRPr lang="en-US" dirty="0">
                        <a:latin typeface="HungHau"/>
                      </a:endParaRPr>
                    </a:p>
                  </a:txBody>
                  <a:tcPr anchor="ctr">
                    <a:lnL>
                      <a:noFill/>
                    </a:lnL>
                    <a:lnR>
                      <a:noFill/>
                    </a:lnR>
                    <a:lnT>
                      <a:noFill/>
                    </a:lnT>
                    <a:lnB>
                      <a:noFill/>
                    </a:lnB>
                    <a:noFill/>
                  </a:tcPr>
                </a:tc>
                <a:extLst>
                  <a:ext uri="{0D108BD9-81ED-4DB2-BD59-A6C34878D82A}">
                    <a16:rowId xmlns:a16="http://schemas.microsoft.com/office/drawing/2014/main" val="137629336"/>
                  </a:ext>
                </a:extLst>
              </a:tr>
              <a:tr h="0">
                <a:tc>
                  <a:txBody>
                    <a:bodyPr/>
                    <a:lstStyle/>
                    <a:p>
                      <a:pPr>
                        <a:buNone/>
                      </a:pPr>
                      <a:r>
                        <a:rPr lang="en-US">
                          <a:latin typeface="HungHau"/>
                        </a:rPr>
                        <a:t>Visual Studio Code</a:t>
                      </a:r>
                    </a:p>
                  </a:txBody>
                  <a:tcPr anchor="ctr">
                    <a:lnL>
                      <a:noFill/>
                    </a:lnL>
                    <a:lnR>
                      <a:noFill/>
                    </a:lnR>
                    <a:lnT>
                      <a:noFill/>
                    </a:lnT>
                    <a:lnB>
                      <a:noFill/>
                    </a:lnB>
                    <a:noFill/>
                  </a:tcPr>
                </a:tc>
                <a:tc>
                  <a:txBody>
                    <a:bodyPr/>
                    <a:lstStyle/>
                    <a:p>
                      <a:pPr>
                        <a:buNone/>
                      </a:pPr>
                      <a:r>
                        <a:rPr lang="en-US">
                          <a:latin typeface="HungHau"/>
                        </a:rPr>
                        <a:t>Chỉnh sửa và quản lý tệp</a:t>
                      </a:r>
                    </a:p>
                  </a:txBody>
                  <a:tcPr anchor="ctr">
                    <a:lnL>
                      <a:noFill/>
                    </a:lnL>
                    <a:lnR>
                      <a:noFill/>
                    </a:lnR>
                    <a:lnT>
                      <a:noFill/>
                    </a:lnT>
                    <a:lnB>
                      <a:noFill/>
                    </a:lnB>
                    <a:noFill/>
                  </a:tcPr>
                </a:tc>
                <a:extLst>
                  <a:ext uri="{0D108BD9-81ED-4DB2-BD59-A6C34878D82A}">
                    <a16:rowId xmlns:a16="http://schemas.microsoft.com/office/drawing/2014/main" val="2048170604"/>
                  </a:ext>
                </a:extLst>
              </a:tr>
              <a:tr h="0">
                <a:tc>
                  <a:txBody>
                    <a:bodyPr/>
                    <a:lstStyle/>
                    <a:p>
                      <a:pPr>
                        <a:buNone/>
                      </a:pPr>
                      <a:r>
                        <a:rPr lang="en-US">
                          <a:latin typeface="HungHau"/>
                        </a:rPr>
                        <a:t>GitHub Desktop</a:t>
                      </a:r>
                    </a:p>
                  </a:txBody>
                  <a:tcPr anchor="ctr">
                    <a:lnL>
                      <a:noFill/>
                    </a:lnL>
                    <a:lnR>
                      <a:noFill/>
                    </a:lnR>
                    <a:lnT>
                      <a:noFill/>
                    </a:lnT>
                    <a:lnB>
                      <a:noFill/>
                    </a:lnB>
                    <a:noFill/>
                  </a:tcPr>
                </a:tc>
                <a:tc>
                  <a:txBody>
                    <a:bodyPr/>
                    <a:lstStyle/>
                    <a:p>
                      <a:pPr>
                        <a:buNone/>
                      </a:pPr>
                      <a:r>
                        <a:rPr lang="en-US">
                          <a:latin typeface="HungHau"/>
                        </a:rPr>
                        <a:t>Quản lý phiên bản và đồng bộ repository</a:t>
                      </a:r>
                    </a:p>
                  </a:txBody>
                  <a:tcPr anchor="ctr">
                    <a:lnL>
                      <a:noFill/>
                    </a:lnL>
                    <a:lnR>
                      <a:noFill/>
                    </a:lnR>
                    <a:lnT>
                      <a:noFill/>
                    </a:lnT>
                    <a:lnB>
                      <a:noFill/>
                    </a:lnB>
                    <a:noFill/>
                  </a:tcPr>
                </a:tc>
                <a:extLst>
                  <a:ext uri="{0D108BD9-81ED-4DB2-BD59-A6C34878D82A}">
                    <a16:rowId xmlns:a16="http://schemas.microsoft.com/office/drawing/2014/main" val="2694183285"/>
                  </a:ext>
                </a:extLst>
              </a:tr>
              <a:tr h="0">
                <a:tc>
                  <a:txBody>
                    <a:bodyPr/>
                    <a:lstStyle/>
                    <a:p>
                      <a:pPr>
                        <a:buNone/>
                      </a:pPr>
                      <a:r>
                        <a:rPr lang="en-US">
                          <a:latin typeface="HungHau"/>
                        </a:rPr>
                        <a:t>GitHub</a:t>
                      </a:r>
                    </a:p>
                  </a:txBody>
                  <a:tcPr anchor="ctr">
                    <a:lnL>
                      <a:noFill/>
                    </a:lnL>
                    <a:lnR>
                      <a:noFill/>
                    </a:lnR>
                    <a:lnT>
                      <a:noFill/>
                    </a:lnT>
                    <a:lnB>
                      <a:noFill/>
                    </a:lnB>
                    <a:noFill/>
                  </a:tcPr>
                </a:tc>
                <a:tc>
                  <a:txBody>
                    <a:bodyPr/>
                    <a:lstStyle/>
                    <a:p>
                      <a:pPr>
                        <a:buNone/>
                      </a:pPr>
                      <a:r>
                        <a:rPr lang="vi-VN" dirty="0">
                          <a:latin typeface="HungHau"/>
                        </a:rPr>
                        <a:t>Lưu trữ mã nguồn và tài liệu</a:t>
                      </a:r>
                    </a:p>
                  </a:txBody>
                  <a:tcPr anchor="ctr">
                    <a:lnL>
                      <a:noFill/>
                    </a:lnL>
                    <a:lnR>
                      <a:noFill/>
                    </a:lnR>
                    <a:lnT>
                      <a:noFill/>
                    </a:lnT>
                    <a:lnB>
                      <a:noFill/>
                    </a:lnB>
                    <a:noFill/>
                  </a:tcPr>
                </a:tc>
                <a:extLst>
                  <a:ext uri="{0D108BD9-81ED-4DB2-BD59-A6C34878D82A}">
                    <a16:rowId xmlns:a16="http://schemas.microsoft.com/office/drawing/2014/main" val="70155319"/>
                  </a:ext>
                </a:extLst>
              </a:tr>
            </a:tbl>
          </a:graphicData>
        </a:graphic>
      </p:graphicFrame>
      <p:sp>
        <p:nvSpPr>
          <p:cNvPr id="5" name="TextBox 4">
            <a:extLst>
              <a:ext uri="{FF2B5EF4-FFF2-40B4-BE49-F238E27FC236}">
                <a16:creationId xmlns:a16="http://schemas.microsoft.com/office/drawing/2014/main" id="{71D612C0-D9AA-438C-02B1-DF285EF67AAC}"/>
              </a:ext>
            </a:extLst>
          </p:cNvPr>
          <p:cNvSpPr txBox="1"/>
          <p:nvPr/>
        </p:nvSpPr>
        <p:spPr>
          <a:xfrm>
            <a:off x="838198" y="2255477"/>
            <a:ext cx="5006051" cy="369332"/>
          </a:xfrm>
          <a:prstGeom prst="rect">
            <a:avLst/>
          </a:prstGeom>
          <a:noFill/>
        </p:spPr>
        <p:txBody>
          <a:bodyPr wrap="square" rtlCol="0">
            <a:spAutoFit/>
          </a:bodyPr>
          <a:lstStyle/>
          <a:p>
            <a:r>
              <a:rPr lang="en-US" b="1" dirty="0">
                <a:latin typeface="HungHau" panose="02000503050000020004"/>
              </a:rPr>
              <a:t>Công </a:t>
            </a:r>
            <a:r>
              <a:rPr lang="en-US" b="1" dirty="0" err="1">
                <a:latin typeface="HungHau" panose="02000503050000020004"/>
              </a:rPr>
              <a:t>cụ</a:t>
            </a:r>
            <a:r>
              <a:rPr lang="en-US" b="1" dirty="0">
                <a:latin typeface="HungHau" panose="02000503050000020004"/>
              </a:rPr>
              <a:t> </a:t>
            </a:r>
            <a:r>
              <a:rPr lang="en-US" b="1" dirty="0" err="1">
                <a:latin typeface="HungHau" panose="02000503050000020004"/>
              </a:rPr>
              <a:t>sử</a:t>
            </a:r>
            <a:r>
              <a:rPr lang="en-US" b="1" dirty="0">
                <a:latin typeface="HungHau" panose="02000503050000020004"/>
              </a:rPr>
              <a:t> </a:t>
            </a:r>
            <a:r>
              <a:rPr lang="en-US" b="1" dirty="0" err="1">
                <a:latin typeface="HungHau" panose="02000503050000020004"/>
              </a:rPr>
              <a:t>dụng</a:t>
            </a:r>
            <a:r>
              <a:rPr lang="en-US" b="1" dirty="0">
                <a:latin typeface="HungHau" panose="02000503050000020004"/>
              </a:rPr>
              <a:t>:</a:t>
            </a:r>
          </a:p>
        </p:txBody>
      </p:sp>
      <p:pic>
        <p:nvPicPr>
          <p:cNvPr id="6" name="Picture 5">
            <a:extLst>
              <a:ext uri="{FF2B5EF4-FFF2-40B4-BE49-F238E27FC236}">
                <a16:creationId xmlns:a16="http://schemas.microsoft.com/office/drawing/2014/main" id="{65ECFFD4-ACE5-4A85-646A-FD0DFC82FB3C}"/>
              </a:ext>
            </a:extLst>
          </p:cNvPr>
          <p:cNvPicPr>
            <a:picLocks noChangeAspect="1"/>
          </p:cNvPicPr>
          <p:nvPr/>
        </p:nvPicPr>
        <p:blipFill>
          <a:blip r:embed="rId2"/>
          <a:stretch>
            <a:fillRect/>
          </a:stretch>
        </p:blipFill>
        <p:spPr>
          <a:xfrm>
            <a:off x="6805913" y="2493320"/>
            <a:ext cx="2777925" cy="1565128"/>
          </a:xfrm>
          <a:prstGeom prst="rect">
            <a:avLst/>
          </a:prstGeom>
        </p:spPr>
      </p:pic>
      <p:pic>
        <p:nvPicPr>
          <p:cNvPr id="7" name="Picture 6">
            <a:extLst>
              <a:ext uri="{FF2B5EF4-FFF2-40B4-BE49-F238E27FC236}">
                <a16:creationId xmlns:a16="http://schemas.microsoft.com/office/drawing/2014/main" id="{A70FE14B-B261-1EFF-2A52-DF14575ABB01}"/>
              </a:ext>
            </a:extLst>
          </p:cNvPr>
          <p:cNvPicPr>
            <a:picLocks noChangeAspect="1"/>
          </p:cNvPicPr>
          <p:nvPr/>
        </p:nvPicPr>
        <p:blipFill>
          <a:blip r:embed="rId3"/>
          <a:stretch>
            <a:fillRect/>
          </a:stretch>
        </p:blipFill>
        <p:spPr>
          <a:xfrm>
            <a:off x="9583839" y="2493320"/>
            <a:ext cx="2028524" cy="2028524"/>
          </a:xfrm>
          <a:prstGeom prst="rect">
            <a:avLst/>
          </a:prstGeom>
        </p:spPr>
      </p:pic>
      <p:pic>
        <p:nvPicPr>
          <p:cNvPr id="8" name="Picture 7">
            <a:extLst>
              <a:ext uri="{FF2B5EF4-FFF2-40B4-BE49-F238E27FC236}">
                <a16:creationId xmlns:a16="http://schemas.microsoft.com/office/drawing/2014/main" id="{604100B3-37F7-17D9-404E-45864EF0887F}"/>
              </a:ext>
            </a:extLst>
          </p:cNvPr>
          <p:cNvPicPr>
            <a:picLocks noChangeAspect="1"/>
          </p:cNvPicPr>
          <p:nvPr/>
        </p:nvPicPr>
        <p:blipFill>
          <a:blip r:embed="rId4"/>
          <a:stretch>
            <a:fillRect/>
          </a:stretch>
        </p:blipFill>
        <p:spPr>
          <a:xfrm>
            <a:off x="7440714" y="4058448"/>
            <a:ext cx="2143125" cy="2143125"/>
          </a:xfrm>
          <a:prstGeom prst="rect">
            <a:avLst/>
          </a:prstGeom>
        </p:spPr>
      </p:pic>
      <p:pic>
        <p:nvPicPr>
          <p:cNvPr id="9" name="Picture 8">
            <a:extLst>
              <a:ext uri="{FF2B5EF4-FFF2-40B4-BE49-F238E27FC236}">
                <a16:creationId xmlns:a16="http://schemas.microsoft.com/office/drawing/2014/main" id="{CE3FF973-371E-181E-E081-CEE7AFF79760}"/>
              </a:ext>
            </a:extLst>
          </p:cNvPr>
          <p:cNvPicPr>
            <a:picLocks noChangeAspect="1"/>
          </p:cNvPicPr>
          <p:nvPr/>
        </p:nvPicPr>
        <p:blipFill>
          <a:blip r:embed="rId5"/>
          <a:stretch>
            <a:fillRect/>
          </a:stretch>
        </p:blipFill>
        <p:spPr>
          <a:xfrm>
            <a:off x="9583838" y="4521844"/>
            <a:ext cx="1628775" cy="1628775"/>
          </a:xfrm>
          <a:prstGeom prst="rect">
            <a:avLst/>
          </a:prstGeom>
        </p:spPr>
      </p:pic>
    </p:spTree>
    <p:extLst>
      <p:ext uri="{BB962C8B-B14F-4D97-AF65-F5344CB8AC3E}">
        <p14:creationId xmlns:p14="http://schemas.microsoft.com/office/powerpoint/2010/main" val="15873680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58EB34-6169-3E8E-2413-F9747E48A99C}"/>
              </a:ext>
            </a:extLst>
          </p:cNvPr>
          <p:cNvPicPr>
            <a:picLocks noChangeAspect="1"/>
          </p:cNvPicPr>
          <p:nvPr/>
        </p:nvPicPr>
        <p:blipFill>
          <a:blip r:embed="rId2"/>
          <a:stretch>
            <a:fillRect/>
          </a:stretch>
        </p:blipFill>
        <p:spPr>
          <a:xfrm>
            <a:off x="1513872" y="353028"/>
            <a:ext cx="9036452" cy="6024301"/>
          </a:xfrm>
          <a:prstGeom prst="rect">
            <a:avLst/>
          </a:prstGeom>
        </p:spPr>
      </p:pic>
    </p:spTree>
    <p:extLst>
      <p:ext uri="{BB962C8B-B14F-4D97-AF65-F5344CB8AC3E}">
        <p14:creationId xmlns:p14="http://schemas.microsoft.com/office/powerpoint/2010/main" val="34331605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57E0E58-CD95-2F93-096A-0D245B88DC24}"/>
              </a:ext>
            </a:extLst>
          </p:cNvPr>
          <p:cNvSpPr txBox="1"/>
          <p:nvPr/>
        </p:nvSpPr>
        <p:spPr>
          <a:xfrm>
            <a:off x="520861" y="1551008"/>
            <a:ext cx="4340507" cy="3139321"/>
          </a:xfrm>
          <a:prstGeom prst="rect">
            <a:avLst/>
          </a:prstGeom>
          <a:noFill/>
        </p:spPr>
        <p:txBody>
          <a:bodyPr wrap="square" rtlCol="0">
            <a:spAutoFit/>
          </a:bodyPr>
          <a:lstStyle/>
          <a:p>
            <a:r>
              <a:rPr lang="vi-VN" b="1" dirty="0">
                <a:latin typeface="HungHau"/>
              </a:rPr>
              <a:t>Kết quả đạt được</a:t>
            </a:r>
            <a:r>
              <a:rPr lang="en-US" b="1" dirty="0">
                <a:latin typeface="HungHau"/>
              </a:rPr>
              <a:t>:</a:t>
            </a:r>
            <a:endParaRPr lang="vi-VN" b="1" dirty="0">
              <a:latin typeface="HungHau"/>
            </a:endParaRPr>
          </a:p>
          <a:p>
            <a:pPr marL="285750" indent="-285750">
              <a:buFont typeface="Arial" panose="020B0604020202020204" pitchFamily="34" charset="0"/>
              <a:buChar char="•"/>
            </a:pPr>
            <a:r>
              <a:rPr lang="vi-VN" dirty="0">
                <a:latin typeface="HungHau"/>
              </a:rPr>
              <a:t>Triển khai thành công môi trường OWASP IoTGoat trên Docker và QEMU. </a:t>
            </a:r>
          </a:p>
          <a:p>
            <a:pPr marL="285750" indent="-285750">
              <a:buFont typeface="Arial" panose="020B0604020202020204" pitchFamily="34" charset="0"/>
              <a:buChar char="•"/>
            </a:pPr>
            <a:r>
              <a:rPr lang="vi-VN" dirty="0">
                <a:latin typeface="HungHau"/>
              </a:rPr>
              <a:t>Firmware OpenWrt khởi động ổn định. </a:t>
            </a:r>
          </a:p>
          <a:p>
            <a:pPr marL="285750" indent="-285750">
              <a:buFont typeface="Arial" panose="020B0604020202020204" pitchFamily="34" charset="0"/>
              <a:buChar char="•"/>
            </a:pPr>
            <a:r>
              <a:rPr lang="vi-VN" dirty="0">
                <a:latin typeface="HungHau"/>
              </a:rPr>
              <a:t>Truy cập thành công giao diện quản trị LuCI. </a:t>
            </a:r>
          </a:p>
          <a:p>
            <a:pPr marL="285750" indent="-285750">
              <a:buFont typeface="Arial" panose="020B0604020202020204" pitchFamily="34" charset="0"/>
              <a:buChar char="•"/>
            </a:pPr>
            <a:r>
              <a:rPr lang="vi-VN" dirty="0">
                <a:latin typeface="HungHau"/>
              </a:rPr>
              <a:t>Thu thập được thông tin firmware và cấu hình hệ thống. </a:t>
            </a:r>
          </a:p>
          <a:p>
            <a:pPr marL="285750" indent="-285750">
              <a:buFont typeface="Arial" panose="020B0604020202020204" pitchFamily="34" charset="0"/>
              <a:buChar char="•"/>
            </a:pPr>
            <a:r>
              <a:rPr lang="vi-VN" dirty="0">
                <a:latin typeface="HungHau"/>
              </a:rPr>
              <a:t>Môi trường sẵn sàng phục vụ đánh giá bảo mật.</a:t>
            </a:r>
          </a:p>
          <a:p>
            <a:endParaRPr lang="en-US" dirty="0">
              <a:latin typeface="HungHau"/>
            </a:endParaRPr>
          </a:p>
        </p:txBody>
      </p:sp>
      <p:pic>
        <p:nvPicPr>
          <p:cNvPr id="6" name="Picture 5">
            <a:extLst>
              <a:ext uri="{FF2B5EF4-FFF2-40B4-BE49-F238E27FC236}">
                <a16:creationId xmlns:a16="http://schemas.microsoft.com/office/drawing/2014/main" id="{3BB32CD4-9368-A5C2-D700-F3EC6E675BDB}"/>
              </a:ext>
            </a:extLst>
          </p:cNvPr>
          <p:cNvPicPr>
            <a:picLocks noChangeAspect="1"/>
          </p:cNvPicPr>
          <p:nvPr/>
        </p:nvPicPr>
        <p:blipFill>
          <a:blip r:embed="rId2"/>
          <a:stretch>
            <a:fillRect/>
          </a:stretch>
        </p:blipFill>
        <p:spPr>
          <a:xfrm>
            <a:off x="4983154" y="1853241"/>
            <a:ext cx="6518196" cy="1267427"/>
          </a:xfrm>
          <a:prstGeom prst="rect">
            <a:avLst/>
          </a:prstGeom>
        </p:spPr>
      </p:pic>
      <p:pic>
        <p:nvPicPr>
          <p:cNvPr id="8" name="Picture 7">
            <a:extLst>
              <a:ext uri="{FF2B5EF4-FFF2-40B4-BE49-F238E27FC236}">
                <a16:creationId xmlns:a16="http://schemas.microsoft.com/office/drawing/2014/main" id="{061CF35F-1A18-69B3-6742-F5C839E11123}"/>
              </a:ext>
            </a:extLst>
          </p:cNvPr>
          <p:cNvPicPr>
            <a:picLocks noChangeAspect="1"/>
          </p:cNvPicPr>
          <p:nvPr/>
        </p:nvPicPr>
        <p:blipFill>
          <a:blip r:embed="rId3"/>
          <a:stretch>
            <a:fillRect/>
          </a:stretch>
        </p:blipFill>
        <p:spPr>
          <a:xfrm>
            <a:off x="4983155" y="3120668"/>
            <a:ext cx="3391130" cy="2416630"/>
          </a:xfrm>
          <a:prstGeom prst="rect">
            <a:avLst/>
          </a:prstGeom>
        </p:spPr>
      </p:pic>
      <p:pic>
        <p:nvPicPr>
          <p:cNvPr id="10" name="Picture 9">
            <a:extLst>
              <a:ext uri="{FF2B5EF4-FFF2-40B4-BE49-F238E27FC236}">
                <a16:creationId xmlns:a16="http://schemas.microsoft.com/office/drawing/2014/main" id="{A177C695-C9A2-2A9E-43E9-BEC372FDF321}"/>
              </a:ext>
            </a:extLst>
          </p:cNvPr>
          <p:cNvPicPr>
            <a:picLocks noChangeAspect="1"/>
          </p:cNvPicPr>
          <p:nvPr/>
        </p:nvPicPr>
        <p:blipFill>
          <a:blip r:embed="rId4"/>
          <a:stretch>
            <a:fillRect/>
          </a:stretch>
        </p:blipFill>
        <p:spPr>
          <a:xfrm>
            <a:off x="8374285" y="3190183"/>
            <a:ext cx="3657599" cy="2347115"/>
          </a:xfrm>
          <a:prstGeom prst="rect">
            <a:avLst/>
          </a:prstGeom>
        </p:spPr>
      </p:pic>
    </p:spTree>
    <p:extLst>
      <p:ext uri="{BB962C8B-B14F-4D97-AF65-F5344CB8AC3E}">
        <p14:creationId xmlns:p14="http://schemas.microsoft.com/office/powerpoint/2010/main" val="2985107635"/>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3DB736E-50F4-17F0-9D30-E206DF2399D3}"/>
              </a:ext>
            </a:extLst>
          </p:cNvPr>
          <p:cNvGraphicFramePr>
            <a:graphicFrameLocks noGrp="1"/>
          </p:cNvGraphicFramePr>
          <p:nvPr>
            <p:ph idx="1"/>
            <p:extLst>
              <p:ext uri="{D42A27DB-BD31-4B8C-83A1-F6EECF244321}">
                <p14:modId xmlns:p14="http://schemas.microsoft.com/office/powerpoint/2010/main" val="3813172725"/>
              </p:ext>
            </p:extLst>
          </p:nvPr>
        </p:nvGraphicFramePr>
        <p:xfrm>
          <a:off x="242103" y="414447"/>
          <a:ext cx="4653988" cy="2926080"/>
        </p:xfrm>
        <a:graphic>
          <a:graphicData uri="http://schemas.openxmlformats.org/drawingml/2006/table">
            <a:tbl>
              <a:tblPr/>
              <a:tblGrid>
                <a:gridCol w="2326994">
                  <a:extLst>
                    <a:ext uri="{9D8B030D-6E8A-4147-A177-3AD203B41FA5}">
                      <a16:colId xmlns:a16="http://schemas.microsoft.com/office/drawing/2014/main" val="1770831065"/>
                    </a:ext>
                  </a:extLst>
                </a:gridCol>
                <a:gridCol w="2326994">
                  <a:extLst>
                    <a:ext uri="{9D8B030D-6E8A-4147-A177-3AD203B41FA5}">
                      <a16:colId xmlns:a16="http://schemas.microsoft.com/office/drawing/2014/main" val="43334456"/>
                    </a:ext>
                  </a:extLst>
                </a:gridCol>
              </a:tblGrid>
              <a:tr h="0">
                <a:tc>
                  <a:txBody>
                    <a:bodyPr/>
                    <a:lstStyle/>
                    <a:p>
                      <a:pPr>
                        <a:buNone/>
                      </a:pPr>
                      <a:r>
                        <a:rPr lang="en-US" b="1" dirty="0" err="1"/>
                        <a:t>Nội</a:t>
                      </a:r>
                      <a:r>
                        <a:rPr lang="en-US" b="1" dirty="0"/>
                        <a:t> dung </a:t>
                      </a:r>
                      <a:r>
                        <a:rPr lang="en-US" b="1" dirty="0" err="1"/>
                        <a:t>khảo</a:t>
                      </a:r>
                      <a:r>
                        <a:rPr lang="en-US" b="1" dirty="0"/>
                        <a:t> </a:t>
                      </a:r>
                      <a:r>
                        <a:rPr lang="en-US" b="1" dirty="0" err="1"/>
                        <a:t>sát</a:t>
                      </a:r>
                      <a:endParaRPr lang="en-US" b="1" dirty="0"/>
                    </a:p>
                  </a:txBody>
                  <a:tcPr anchor="ctr">
                    <a:lnL>
                      <a:noFill/>
                    </a:lnL>
                    <a:lnR>
                      <a:noFill/>
                    </a:lnR>
                    <a:lnT>
                      <a:noFill/>
                    </a:lnT>
                    <a:lnB>
                      <a:noFill/>
                    </a:lnB>
                    <a:noFill/>
                  </a:tcPr>
                </a:tc>
                <a:tc>
                  <a:txBody>
                    <a:bodyPr/>
                    <a:lstStyle/>
                    <a:p>
                      <a:pPr>
                        <a:buNone/>
                      </a:pPr>
                      <a:r>
                        <a:rPr lang="en-US" b="1" dirty="0" err="1"/>
                        <a:t>Kết</a:t>
                      </a:r>
                      <a:r>
                        <a:rPr lang="en-US" b="1" dirty="0"/>
                        <a:t> </a:t>
                      </a:r>
                      <a:r>
                        <a:rPr lang="en-US" b="1" dirty="0" err="1"/>
                        <a:t>quả</a:t>
                      </a:r>
                      <a:endParaRPr lang="en-US" b="1" dirty="0"/>
                    </a:p>
                  </a:txBody>
                  <a:tcPr anchor="ctr">
                    <a:lnL>
                      <a:noFill/>
                    </a:lnL>
                    <a:lnR>
                      <a:noFill/>
                    </a:lnR>
                    <a:lnT>
                      <a:noFill/>
                    </a:lnT>
                    <a:lnB>
                      <a:noFill/>
                    </a:lnB>
                    <a:noFill/>
                  </a:tcPr>
                </a:tc>
                <a:extLst>
                  <a:ext uri="{0D108BD9-81ED-4DB2-BD59-A6C34878D82A}">
                    <a16:rowId xmlns:a16="http://schemas.microsoft.com/office/drawing/2014/main" val="1200735226"/>
                  </a:ext>
                </a:extLst>
              </a:tr>
              <a:tr h="0">
                <a:tc>
                  <a:txBody>
                    <a:bodyPr/>
                    <a:lstStyle/>
                    <a:p>
                      <a:pPr>
                        <a:buNone/>
                      </a:pPr>
                      <a:r>
                        <a:rPr lang="en-US"/>
                        <a:t>Firmware</a:t>
                      </a:r>
                    </a:p>
                  </a:txBody>
                  <a:tcPr anchor="ctr">
                    <a:lnL>
                      <a:noFill/>
                    </a:lnL>
                    <a:lnR>
                      <a:noFill/>
                    </a:lnR>
                    <a:lnT>
                      <a:noFill/>
                    </a:lnT>
                    <a:lnB>
                      <a:noFill/>
                    </a:lnB>
                    <a:noFill/>
                  </a:tcPr>
                </a:tc>
                <a:tc>
                  <a:txBody>
                    <a:bodyPr/>
                    <a:lstStyle/>
                    <a:p>
                      <a:pPr>
                        <a:buNone/>
                      </a:pPr>
                      <a:r>
                        <a:rPr lang="en-US"/>
                        <a:t>OpenWrt 18.06.2</a:t>
                      </a:r>
                    </a:p>
                  </a:txBody>
                  <a:tcPr anchor="ctr">
                    <a:lnL>
                      <a:noFill/>
                    </a:lnL>
                    <a:lnR>
                      <a:noFill/>
                    </a:lnR>
                    <a:lnT>
                      <a:noFill/>
                    </a:lnT>
                    <a:lnB>
                      <a:noFill/>
                    </a:lnB>
                    <a:noFill/>
                  </a:tcPr>
                </a:tc>
                <a:extLst>
                  <a:ext uri="{0D108BD9-81ED-4DB2-BD59-A6C34878D82A}">
                    <a16:rowId xmlns:a16="http://schemas.microsoft.com/office/drawing/2014/main" val="3857740884"/>
                  </a:ext>
                </a:extLst>
              </a:tr>
              <a:tr h="0">
                <a:tc>
                  <a:txBody>
                    <a:bodyPr/>
                    <a:lstStyle/>
                    <a:p>
                      <a:pPr>
                        <a:buNone/>
                      </a:pPr>
                      <a:r>
                        <a:rPr lang="en-US" dirty="0" err="1"/>
                        <a:t>Kiến</a:t>
                      </a:r>
                      <a:r>
                        <a:rPr lang="en-US" dirty="0"/>
                        <a:t> </a:t>
                      </a:r>
                      <a:r>
                        <a:rPr lang="en-US" dirty="0" err="1"/>
                        <a:t>trúc</a:t>
                      </a:r>
                      <a:endParaRPr lang="en-US" dirty="0"/>
                    </a:p>
                  </a:txBody>
                  <a:tcPr anchor="ctr">
                    <a:lnL>
                      <a:noFill/>
                    </a:lnL>
                    <a:lnR>
                      <a:noFill/>
                    </a:lnR>
                    <a:lnT>
                      <a:noFill/>
                    </a:lnT>
                    <a:lnB>
                      <a:noFill/>
                    </a:lnB>
                    <a:noFill/>
                  </a:tcPr>
                </a:tc>
                <a:tc>
                  <a:txBody>
                    <a:bodyPr/>
                    <a:lstStyle/>
                    <a:p>
                      <a:pPr>
                        <a:buNone/>
                      </a:pPr>
                      <a:r>
                        <a:rPr lang="en-US"/>
                        <a:t>x86/generic</a:t>
                      </a:r>
                    </a:p>
                  </a:txBody>
                  <a:tcPr anchor="ctr">
                    <a:lnL>
                      <a:noFill/>
                    </a:lnL>
                    <a:lnR>
                      <a:noFill/>
                    </a:lnR>
                    <a:lnT>
                      <a:noFill/>
                    </a:lnT>
                    <a:lnB>
                      <a:noFill/>
                    </a:lnB>
                    <a:noFill/>
                  </a:tcPr>
                </a:tc>
                <a:extLst>
                  <a:ext uri="{0D108BD9-81ED-4DB2-BD59-A6C34878D82A}">
                    <a16:rowId xmlns:a16="http://schemas.microsoft.com/office/drawing/2014/main" val="1979904750"/>
                  </a:ext>
                </a:extLst>
              </a:tr>
              <a:tr h="0">
                <a:tc>
                  <a:txBody>
                    <a:bodyPr/>
                    <a:lstStyle/>
                    <a:p>
                      <a:pPr>
                        <a:buNone/>
                      </a:pPr>
                      <a:r>
                        <a:rPr lang="en-US"/>
                        <a:t>Web Server</a:t>
                      </a:r>
                    </a:p>
                  </a:txBody>
                  <a:tcPr anchor="ctr">
                    <a:lnL>
                      <a:noFill/>
                    </a:lnL>
                    <a:lnR>
                      <a:noFill/>
                    </a:lnR>
                    <a:lnT>
                      <a:noFill/>
                    </a:lnT>
                    <a:lnB>
                      <a:noFill/>
                    </a:lnB>
                    <a:noFill/>
                  </a:tcPr>
                </a:tc>
                <a:tc>
                  <a:txBody>
                    <a:bodyPr/>
                    <a:lstStyle/>
                    <a:p>
                      <a:pPr>
                        <a:buNone/>
                      </a:pPr>
                      <a:r>
                        <a:rPr lang="en-US" dirty="0" err="1"/>
                        <a:t>uHTTPd</a:t>
                      </a:r>
                      <a:endParaRPr lang="en-US" dirty="0"/>
                    </a:p>
                  </a:txBody>
                  <a:tcPr anchor="ctr">
                    <a:lnL>
                      <a:noFill/>
                    </a:lnL>
                    <a:lnR>
                      <a:noFill/>
                    </a:lnR>
                    <a:lnT>
                      <a:noFill/>
                    </a:lnT>
                    <a:lnB>
                      <a:noFill/>
                    </a:lnB>
                    <a:noFill/>
                  </a:tcPr>
                </a:tc>
                <a:extLst>
                  <a:ext uri="{0D108BD9-81ED-4DB2-BD59-A6C34878D82A}">
                    <a16:rowId xmlns:a16="http://schemas.microsoft.com/office/drawing/2014/main" val="2776135323"/>
                  </a:ext>
                </a:extLst>
              </a:tr>
              <a:tr h="0">
                <a:tc>
                  <a:txBody>
                    <a:bodyPr/>
                    <a:lstStyle/>
                    <a:p>
                      <a:pPr>
                        <a:buNone/>
                      </a:pPr>
                      <a:r>
                        <a:rPr lang="en-US"/>
                        <a:t>SSH Server</a:t>
                      </a:r>
                    </a:p>
                  </a:txBody>
                  <a:tcPr anchor="ctr">
                    <a:lnL>
                      <a:noFill/>
                    </a:lnL>
                    <a:lnR>
                      <a:noFill/>
                    </a:lnR>
                    <a:lnT>
                      <a:noFill/>
                    </a:lnT>
                    <a:lnB>
                      <a:noFill/>
                    </a:lnB>
                    <a:noFill/>
                  </a:tcPr>
                </a:tc>
                <a:tc>
                  <a:txBody>
                    <a:bodyPr/>
                    <a:lstStyle/>
                    <a:p>
                      <a:pPr>
                        <a:buNone/>
                      </a:pPr>
                      <a:r>
                        <a:rPr lang="en-US"/>
                        <a:t>Dropbear</a:t>
                      </a:r>
                    </a:p>
                  </a:txBody>
                  <a:tcPr anchor="ctr">
                    <a:lnL>
                      <a:noFill/>
                    </a:lnL>
                    <a:lnR>
                      <a:noFill/>
                    </a:lnR>
                    <a:lnT>
                      <a:noFill/>
                    </a:lnT>
                    <a:lnB>
                      <a:noFill/>
                    </a:lnB>
                    <a:noFill/>
                  </a:tcPr>
                </a:tc>
                <a:extLst>
                  <a:ext uri="{0D108BD9-81ED-4DB2-BD59-A6C34878D82A}">
                    <a16:rowId xmlns:a16="http://schemas.microsoft.com/office/drawing/2014/main" val="3033179235"/>
                  </a:ext>
                </a:extLst>
              </a:tr>
              <a:tr h="0">
                <a:tc>
                  <a:txBody>
                    <a:bodyPr/>
                    <a:lstStyle/>
                    <a:p>
                      <a:pPr>
                        <a:buNone/>
                      </a:pPr>
                      <a:r>
                        <a:rPr lang="en-US"/>
                        <a:t>DNS/DHCP</a:t>
                      </a:r>
                    </a:p>
                  </a:txBody>
                  <a:tcPr anchor="ctr">
                    <a:lnL>
                      <a:noFill/>
                    </a:lnL>
                    <a:lnR>
                      <a:noFill/>
                    </a:lnR>
                    <a:lnT>
                      <a:noFill/>
                    </a:lnT>
                    <a:lnB>
                      <a:noFill/>
                    </a:lnB>
                    <a:noFill/>
                  </a:tcPr>
                </a:tc>
                <a:tc>
                  <a:txBody>
                    <a:bodyPr/>
                    <a:lstStyle/>
                    <a:p>
                      <a:pPr>
                        <a:buNone/>
                      </a:pPr>
                      <a:r>
                        <a:rPr lang="en-US"/>
                        <a:t>dnsmasq</a:t>
                      </a:r>
                    </a:p>
                  </a:txBody>
                  <a:tcPr anchor="ctr">
                    <a:lnL>
                      <a:noFill/>
                    </a:lnL>
                    <a:lnR>
                      <a:noFill/>
                    </a:lnR>
                    <a:lnT>
                      <a:noFill/>
                    </a:lnT>
                    <a:lnB>
                      <a:noFill/>
                    </a:lnB>
                    <a:noFill/>
                  </a:tcPr>
                </a:tc>
                <a:extLst>
                  <a:ext uri="{0D108BD9-81ED-4DB2-BD59-A6C34878D82A}">
                    <a16:rowId xmlns:a16="http://schemas.microsoft.com/office/drawing/2014/main" val="2035890202"/>
                  </a:ext>
                </a:extLst>
              </a:tr>
              <a:tr h="0">
                <a:tc>
                  <a:txBody>
                    <a:bodyPr/>
                    <a:lstStyle/>
                    <a:p>
                      <a:pPr>
                        <a:buNone/>
                      </a:pPr>
                      <a:r>
                        <a:rPr lang="en-US"/>
                        <a:t>Hostname</a:t>
                      </a:r>
                    </a:p>
                  </a:txBody>
                  <a:tcPr anchor="ctr">
                    <a:lnL>
                      <a:noFill/>
                    </a:lnL>
                    <a:lnR>
                      <a:noFill/>
                    </a:lnR>
                    <a:lnT>
                      <a:noFill/>
                    </a:lnT>
                    <a:lnB>
                      <a:noFill/>
                    </a:lnB>
                    <a:noFill/>
                  </a:tcPr>
                </a:tc>
                <a:tc>
                  <a:txBody>
                    <a:bodyPr/>
                    <a:lstStyle/>
                    <a:p>
                      <a:pPr>
                        <a:buNone/>
                      </a:pPr>
                      <a:r>
                        <a:rPr lang="en-US"/>
                        <a:t>IoTGoat</a:t>
                      </a:r>
                    </a:p>
                  </a:txBody>
                  <a:tcPr anchor="ctr">
                    <a:lnL>
                      <a:noFill/>
                    </a:lnL>
                    <a:lnR>
                      <a:noFill/>
                    </a:lnR>
                    <a:lnT>
                      <a:noFill/>
                    </a:lnT>
                    <a:lnB>
                      <a:noFill/>
                    </a:lnB>
                    <a:noFill/>
                  </a:tcPr>
                </a:tc>
                <a:extLst>
                  <a:ext uri="{0D108BD9-81ED-4DB2-BD59-A6C34878D82A}">
                    <a16:rowId xmlns:a16="http://schemas.microsoft.com/office/drawing/2014/main" val="552062670"/>
                  </a:ext>
                </a:extLst>
              </a:tr>
              <a:tr h="0">
                <a:tc>
                  <a:txBody>
                    <a:bodyPr/>
                    <a:lstStyle/>
                    <a:p>
                      <a:pPr>
                        <a:buNone/>
                      </a:pPr>
                      <a:r>
                        <a:rPr lang="en-US"/>
                        <a:t>Giao diện Web</a:t>
                      </a:r>
                    </a:p>
                  </a:txBody>
                  <a:tcPr anchor="ctr">
                    <a:lnL>
                      <a:noFill/>
                    </a:lnL>
                    <a:lnR>
                      <a:noFill/>
                    </a:lnR>
                    <a:lnT>
                      <a:noFill/>
                    </a:lnT>
                    <a:lnB>
                      <a:noFill/>
                    </a:lnB>
                    <a:noFill/>
                  </a:tcPr>
                </a:tc>
                <a:tc>
                  <a:txBody>
                    <a:bodyPr/>
                    <a:lstStyle/>
                    <a:p>
                      <a:pPr>
                        <a:buNone/>
                      </a:pPr>
                      <a:r>
                        <a:rPr lang="en-US" dirty="0" err="1"/>
                        <a:t>LuCI</a:t>
                      </a:r>
                      <a:endParaRPr lang="en-US" dirty="0"/>
                    </a:p>
                  </a:txBody>
                  <a:tcPr anchor="ctr">
                    <a:lnL>
                      <a:noFill/>
                    </a:lnL>
                    <a:lnR>
                      <a:noFill/>
                    </a:lnR>
                    <a:lnT>
                      <a:noFill/>
                    </a:lnT>
                    <a:lnB>
                      <a:noFill/>
                    </a:lnB>
                    <a:noFill/>
                  </a:tcPr>
                </a:tc>
                <a:extLst>
                  <a:ext uri="{0D108BD9-81ED-4DB2-BD59-A6C34878D82A}">
                    <a16:rowId xmlns:a16="http://schemas.microsoft.com/office/drawing/2014/main" val="920473246"/>
                  </a:ext>
                </a:extLst>
              </a:tr>
            </a:tbl>
          </a:graphicData>
        </a:graphic>
      </p:graphicFrame>
      <p:pic>
        <p:nvPicPr>
          <p:cNvPr id="6" name="Picture 5">
            <a:extLst>
              <a:ext uri="{FF2B5EF4-FFF2-40B4-BE49-F238E27FC236}">
                <a16:creationId xmlns:a16="http://schemas.microsoft.com/office/drawing/2014/main" id="{E49380A6-5C49-1698-EE0C-564556EA8FD5}"/>
              </a:ext>
            </a:extLst>
          </p:cNvPr>
          <p:cNvPicPr>
            <a:picLocks noChangeAspect="1"/>
          </p:cNvPicPr>
          <p:nvPr/>
        </p:nvPicPr>
        <p:blipFill>
          <a:blip r:embed="rId2"/>
          <a:stretch>
            <a:fillRect/>
          </a:stretch>
        </p:blipFill>
        <p:spPr>
          <a:xfrm>
            <a:off x="5993716" y="2891282"/>
            <a:ext cx="3268202" cy="2926080"/>
          </a:xfrm>
          <a:prstGeom prst="rect">
            <a:avLst/>
          </a:prstGeom>
        </p:spPr>
      </p:pic>
      <p:pic>
        <p:nvPicPr>
          <p:cNvPr id="8" name="Picture 7">
            <a:extLst>
              <a:ext uri="{FF2B5EF4-FFF2-40B4-BE49-F238E27FC236}">
                <a16:creationId xmlns:a16="http://schemas.microsoft.com/office/drawing/2014/main" id="{3427C659-4BBD-B7C3-9594-EF6500D98A4D}"/>
              </a:ext>
            </a:extLst>
          </p:cNvPr>
          <p:cNvPicPr>
            <a:picLocks noChangeAspect="1"/>
          </p:cNvPicPr>
          <p:nvPr/>
        </p:nvPicPr>
        <p:blipFill>
          <a:blip r:embed="rId3"/>
          <a:stretch>
            <a:fillRect/>
          </a:stretch>
        </p:blipFill>
        <p:spPr>
          <a:xfrm>
            <a:off x="1512968" y="3590522"/>
            <a:ext cx="4480748" cy="2672350"/>
          </a:xfrm>
          <a:prstGeom prst="rect">
            <a:avLst/>
          </a:prstGeom>
        </p:spPr>
      </p:pic>
      <p:sp>
        <p:nvSpPr>
          <p:cNvPr id="10" name="TextBox 9">
            <a:extLst>
              <a:ext uri="{FF2B5EF4-FFF2-40B4-BE49-F238E27FC236}">
                <a16:creationId xmlns:a16="http://schemas.microsoft.com/office/drawing/2014/main" id="{3C353CD5-F5B6-2297-CAE1-67B012B1F0E5}"/>
              </a:ext>
            </a:extLst>
          </p:cNvPr>
          <p:cNvSpPr txBox="1"/>
          <p:nvPr/>
        </p:nvSpPr>
        <p:spPr>
          <a:xfrm>
            <a:off x="5871741" y="414447"/>
            <a:ext cx="5163756" cy="2031325"/>
          </a:xfrm>
          <a:prstGeom prst="rect">
            <a:avLst/>
          </a:prstGeom>
          <a:noFill/>
        </p:spPr>
        <p:txBody>
          <a:bodyPr wrap="square">
            <a:spAutoFit/>
          </a:bodyPr>
          <a:lstStyle/>
          <a:p>
            <a:r>
              <a:rPr lang="en-US" b="1" dirty="0"/>
              <a:t>Check List</a:t>
            </a:r>
          </a:p>
          <a:p>
            <a:pPr marL="285750" indent="-285750">
              <a:buFont typeface="Arial" panose="020B0604020202020204" pitchFamily="34" charset="0"/>
              <a:buChar char="•"/>
            </a:pPr>
            <a:r>
              <a:rPr lang="en-US" dirty="0"/>
              <a:t>Firmware </a:t>
            </a:r>
            <a:r>
              <a:rPr lang="en-US" dirty="0" err="1"/>
              <a:t>khởi</a:t>
            </a:r>
            <a:r>
              <a:rPr lang="en-US" dirty="0"/>
              <a:t> </a:t>
            </a:r>
            <a:r>
              <a:rPr lang="en-US" dirty="0" err="1"/>
              <a:t>động</a:t>
            </a:r>
            <a:r>
              <a:rPr lang="en-US" dirty="0"/>
              <a:t> </a:t>
            </a:r>
            <a:r>
              <a:rPr lang="en-US" dirty="0" err="1"/>
              <a:t>thành</a:t>
            </a:r>
            <a:r>
              <a:rPr lang="en-US" dirty="0"/>
              <a:t> </a:t>
            </a:r>
            <a:r>
              <a:rPr lang="en-US" dirty="0" err="1"/>
              <a:t>công</a:t>
            </a:r>
            <a:endParaRPr lang="en-US" dirty="0"/>
          </a:p>
          <a:p>
            <a:pPr marL="285750" indent="-285750">
              <a:buFont typeface="Arial" panose="020B0604020202020204" pitchFamily="34" charset="0"/>
              <a:buChar char="•"/>
            </a:pPr>
            <a:r>
              <a:rPr lang="en-US" dirty="0"/>
              <a:t>Giao </a:t>
            </a:r>
            <a:r>
              <a:rPr lang="en-US" dirty="0" err="1"/>
              <a:t>diện</a:t>
            </a:r>
            <a:r>
              <a:rPr lang="en-US" dirty="0"/>
              <a:t> </a:t>
            </a:r>
            <a:r>
              <a:rPr lang="en-US" dirty="0" err="1"/>
              <a:t>LuCI</a:t>
            </a:r>
            <a:r>
              <a:rPr lang="en-US" dirty="0"/>
              <a:t> </a:t>
            </a:r>
            <a:r>
              <a:rPr lang="en-US" dirty="0" err="1"/>
              <a:t>hoạt</a:t>
            </a:r>
            <a:r>
              <a:rPr lang="en-US" dirty="0"/>
              <a:t> </a:t>
            </a:r>
            <a:r>
              <a:rPr lang="en-US" dirty="0" err="1"/>
              <a:t>động</a:t>
            </a:r>
            <a:endParaRPr lang="en-US" dirty="0"/>
          </a:p>
          <a:p>
            <a:pPr marL="285750" indent="-285750">
              <a:buFont typeface="Arial" panose="020B0604020202020204" pitchFamily="34" charset="0"/>
              <a:buChar char="•"/>
            </a:pPr>
            <a:r>
              <a:rPr lang="en-US" dirty="0"/>
              <a:t>Thu </a:t>
            </a:r>
            <a:r>
              <a:rPr lang="en-US" dirty="0" err="1"/>
              <a:t>thập</a:t>
            </a:r>
            <a:r>
              <a:rPr lang="en-US" dirty="0"/>
              <a:t> </a:t>
            </a:r>
            <a:r>
              <a:rPr lang="en-US" dirty="0" err="1"/>
              <a:t>cấu</a:t>
            </a:r>
            <a:r>
              <a:rPr lang="en-US" dirty="0"/>
              <a:t> </a:t>
            </a:r>
            <a:r>
              <a:rPr lang="en-US" dirty="0" err="1"/>
              <a:t>hình</a:t>
            </a:r>
            <a:r>
              <a:rPr lang="en-US" dirty="0"/>
              <a:t> </a:t>
            </a:r>
            <a:r>
              <a:rPr lang="en-US" dirty="0" err="1"/>
              <a:t>mạng</a:t>
            </a:r>
            <a:endParaRPr lang="en-US" dirty="0"/>
          </a:p>
          <a:p>
            <a:pPr marL="285750" indent="-285750">
              <a:buFont typeface="Arial" panose="020B0604020202020204" pitchFamily="34" charset="0"/>
              <a:buChar char="•"/>
            </a:pPr>
            <a:r>
              <a:rPr lang="en-US" dirty="0"/>
              <a:t>Thu </a:t>
            </a:r>
            <a:r>
              <a:rPr lang="en-US" dirty="0" err="1"/>
              <a:t>thập</a:t>
            </a:r>
            <a:r>
              <a:rPr lang="en-US" dirty="0"/>
              <a:t> </a:t>
            </a:r>
            <a:r>
              <a:rPr lang="en-US" dirty="0" err="1"/>
              <a:t>cấu</a:t>
            </a:r>
            <a:r>
              <a:rPr lang="en-US" dirty="0"/>
              <a:t> </a:t>
            </a:r>
            <a:r>
              <a:rPr lang="en-US" dirty="0" err="1"/>
              <a:t>hình</a:t>
            </a:r>
            <a:r>
              <a:rPr lang="en-US" dirty="0"/>
              <a:t> </a:t>
            </a:r>
            <a:r>
              <a:rPr lang="en-US" dirty="0" err="1"/>
              <a:t>hệ</a:t>
            </a:r>
            <a:r>
              <a:rPr lang="en-US" dirty="0"/>
              <a:t> </a:t>
            </a:r>
            <a:r>
              <a:rPr lang="en-US" dirty="0" err="1"/>
              <a:t>thống</a:t>
            </a:r>
            <a:endParaRPr lang="en-US" dirty="0"/>
          </a:p>
          <a:p>
            <a:pPr marL="285750" indent="-285750">
              <a:buFont typeface="Arial" panose="020B0604020202020204" pitchFamily="34" charset="0"/>
              <a:buChar char="•"/>
            </a:pPr>
            <a:r>
              <a:rPr lang="en-US" dirty="0" err="1"/>
              <a:t>Phân</a:t>
            </a:r>
            <a:r>
              <a:rPr lang="en-US" dirty="0"/>
              <a:t> </a:t>
            </a:r>
            <a:r>
              <a:rPr lang="en-US" dirty="0" err="1"/>
              <a:t>tích</a:t>
            </a:r>
            <a:r>
              <a:rPr lang="en-US" dirty="0"/>
              <a:t> </a:t>
            </a:r>
            <a:r>
              <a:rPr lang="en-US" dirty="0" err="1"/>
              <a:t>dịch</a:t>
            </a:r>
            <a:r>
              <a:rPr lang="en-US" dirty="0"/>
              <a:t> </a:t>
            </a:r>
            <a:r>
              <a:rPr lang="en-US" dirty="0" err="1"/>
              <a:t>vụ</a:t>
            </a:r>
            <a:endParaRPr lang="en-US" dirty="0"/>
          </a:p>
          <a:p>
            <a:pPr marL="285750" indent="-285750">
              <a:buFont typeface="Arial" panose="020B0604020202020204" pitchFamily="34" charset="0"/>
              <a:buChar char="•"/>
            </a:pPr>
            <a:r>
              <a:rPr lang="en-US" dirty="0"/>
              <a:t>Thu </a:t>
            </a:r>
            <a:r>
              <a:rPr lang="en-US" dirty="0" err="1"/>
              <a:t>thập</a:t>
            </a:r>
            <a:r>
              <a:rPr lang="en-US" dirty="0"/>
              <a:t> log </a:t>
            </a:r>
            <a:r>
              <a:rPr lang="en-US" dirty="0" err="1"/>
              <a:t>hệ</a:t>
            </a:r>
            <a:r>
              <a:rPr lang="en-US" dirty="0"/>
              <a:t> </a:t>
            </a:r>
            <a:r>
              <a:rPr lang="en-US" dirty="0" err="1"/>
              <a:t>thống</a:t>
            </a:r>
            <a:endParaRPr lang="en-US" dirty="0"/>
          </a:p>
        </p:txBody>
      </p:sp>
    </p:spTree>
    <p:extLst>
      <p:ext uri="{BB962C8B-B14F-4D97-AF65-F5344CB8AC3E}">
        <p14:creationId xmlns:p14="http://schemas.microsoft.com/office/powerpoint/2010/main" val="57607148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1231E-478E-80DE-9319-DE6D0B2CF242}"/>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0D62644-16CA-6A68-9427-AF5895F96759}"/>
              </a:ext>
            </a:extLst>
          </p:cNvPr>
          <p:cNvGraphicFramePr>
            <a:graphicFrameLocks noGrp="1"/>
          </p:cNvGraphicFramePr>
          <p:nvPr/>
        </p:nvGraphicFramePr>
        <p:xfrm>
          <a:off x="444661" y="552833"/>
          <a:ext cx="10204047" cy="3348621"/>
        </p:xfrm>
        <a:graphic>
          <a:graphicData uri="http://schemas.openxmlformats.org/drawingml/2006/table">
            <a:tbl>
              <a:tblPr/>
              <a:tblGrid>
                <a:gridCol w="3401349">
                  <a:extLst>
                    <a:ext uri="{9D8B030D-6E8A-4147-A177-3AD203B41FA5}">
                      <a16:colId xmlns:a16="http://schemas.microsoft.com/office/drawing/2014/main" val="1844397884"/>
                    </a:ext>
                  </a:extLst>
                </a:gridCol>
                <a:gridCol w="3401349">
                  <a:extLst>
                    <a:ext uri="{9D8B030D-6E8A-4147-A177-3AD203B41FA5}">
                      <a16:colId xmlns:a16="http://schemas.microsoft.com/office/drawing/2014/main" val="4235714168"/>
                    </a:ext>
                  </a:extLst>
                </a:gridCol>
                <a:gridCol w="3401349">
                  <a:extLst>
                    <a:ext uri="{9D8B030D-6E8A-4147-A177-3AD203B41FA5}">
                      <a16:colId xmlns:a16="http://schemas.microsoft.com/office/drawing/2014/main" val="1306863098"/>
                    </a:ext>
                  </a:extLst>
                </a:gridCol>
              </a:tblGrid>
              <a:tr h="280311">
                <a:tc>
                  <a:txBody>
                    <a:bodyPr/>
                    <a:lstStyle/>
                    <a:p>
                      <a:pPr>
                        <a:buNone/>
                      </a:pPr>
                      <a:r>
                        <a:rPr lang="en-US" sz="1600" dirty="0" err="1"/>
                        <a:t>Rủi</a:t>
                      </a:r>
                      <a:r>
                        <a:rPr lang="en-US" sz="1600" dirty="0"/>
                        <a:t> </a:t>
                      </a:r>
                      <a:r>
                        <a:rPr lang="en-US" sz="1600" dirty="0" err="1"/>
                        <a:t>ro</a:t>
                      </a:r>
                      <a:endParaRPr lang="en-US" sz="1600" dirty="0"/>
                    </a:p>
                  </a:txBody>
                  <a:tcPr anchor="ctr">
                    <a:lnL>
                      <a:noFill/>
                    </a:lnL>
                    <a:lnR>
                      <a:noFill/>
                    </a:lnR>
                    <a:lnT>
                      <a:noFill/>
                    </a:lnT>
                    <a:lnB>
                      <a:noFill/>
                    </a:lnB>
                    <a:noFill/>
                  </a:tcPr>
                </a:tc>
                <a:tc>
                  <a:txBody>
                    <a:bodyPr/>
                    <a:lstStyle/>
                    <a:p>
                      <a:pPr>
                        <a:buNone/>
                      </a:pPr>
                      <a:r>
                        <a:rPr lang="en-US" sz="1600" dirty="0" err="1"/>
                        <a:t>Mức</a:t>
                      </a:r>
                      <a:r>
                        <a:rPr lang="en-US" sz="1600" dirty="0"/>
                        <a:t> </a:t>
                      </a:r>
                      <a:r>
                        <a:rPr lang="en-US" sz="1600" dirty="0" err="1"/>
                        <a:t>độ</a:t>
                      </a:r>
                      <a:endParaRPr lang="en-US" sz="1600" dirty="0"/>
                    </a:p>
                  </a:txBody>
                  <a:tcPr anchor="ctr">
                    <a:lnL>
                      <a:noFill/>
                    </a:lnL>
                    <a:lnR>
                      <a:noFill/>
                    </a:lnR>
                    <a:lnT>
                      <a:noFill/>
                    </a:lnT>
                    <a:lnB>
                      <a:noFill/>
                    </a:lnB>
                    <a:noFill/>
                  </a:tcPr>
                </a:tc>
                <a:tc>
                  <a:txBody>
                    <a:bodyPr/>
                    <a:lstStyle/>
                    <a:p>
                      <a:pPr>
                        <a:buNone/>
                      </a:pPr>
                      <a:r>
                        <a:rPr lang="vi-VN" sz="1600"/>
                        <a:t>Ảnh hưởng</a:t>
                      </a:r>
                    </a:p>
                  </a:txBody>
                  <a:tcPr anchor="ctr">
                    <a:lnL>
                      <a:noFill/>
                    </a:lnL>
                    <a:lnR>
                      <a:noFill/>
                    </a:lnR>
                    <a:lnT>
                      <a:noFill/>
                    </a:lnT>
                    <a:lnB>
                      <a:noFill/>
                    </a:lnB>
                    <a:noFill/>
                  </a:tcPr>
                </a:tc>
                <a:extLst>
                  <a:ext uri="{0D108BD9-81ED-4DB2-BD59-A6C34878D82A}">
                    <a16:rowId xmlns:a16="http://schemas.microsoft.com/office/drawing/2014/main" val="2185466619"/>
                  </a:ext>
                </a:extLst>
              </a:tr>
              <a:tr h="700777">
                <a:tc>
                  <a:txBody>
                    <a:bodyPr/>
                    <a:lstStyle/>
                    <a:p>
                      <a:pPr>
                        <a:buNone/>
                      </a:pPr>
                      <a:r>
                        <a:rPr lang="en-US" sz="1600" dirty="0" err="1"/>
                        <a:t>Dịch</a:t>
                      </a:r>
                      <a:r>
                        <a:rPr lang="en-US" sz="1600" dirty="0"/>
                        <a:t> </a:t>
                      </a:r>
                      <a:r>
                        <a:rPr lang="en-US" sz="1600" dirty="0" err="1"/>
                        <a:t>vụ</a:t>
                      </a:r>
                      <a:r>
                        <a:rPr lang="en-US" sz="1600" dirty="0"/>
                        <a:t> Telnet </a:t>
                      </a:r>
                      <a:r>
                        <a:rPr lang="en-US" sz="1600" dirty="0" err="1"/>
                        <a:t>đang</a:t>
                      </a:r>
                      <a:r>
                        <a:rPr lang="en-US" sz="1600" dirty="0"/>
                        <a:t> </a:t>
                      </a:r>
                      <a:r>
                        <a:rPr lang="en-US" sz="1600" dirty="0" err="1"/>
                        <a:t>hoạt</a:t>
                      </a:r>
                      <a:r>
                        <a:rPr lang="en-US" sz="1600" dirty="0"/>
                        <a:t> </a:t>
                      </a:r>
                      <a:r>
                        <a:rPr lang="en-US" sz="1600" dirty="0" err="1"/>
                        <a:t>động</a:t>
                      </a:r>
                      <a:endParaRPr lang="en-US" sz="1600" dirty="0"/>
                    </a:p>
                  </a:txBody>
                  <a:tcPr anchor="ctr">
                    <a:lnL>
                      <a:noFill/>
                    </a:lnL>
                    <a:lnR>
                      <a:noFill/>
                    </a:lnR>
                    <a:lnT>
                      <a:noFill/>
                    </a:lnT>
                    <a:lnB>
                      <a:noFill/>
                    </a:lnB>
                    <a:noFill/>
                  </a:tcPr>
                </a:tc>
                <a:tc>
                  <a:txBody>
                    <a:bodyPr/>
                    <a:lstStyle/>
                    <a:p>
                      <a:pPr>
                        <a:buNone/>
                      </a:pPr>
                      <a:r>
                        <a:rPr lang="en-US" sz="1600"/>
                        <a:t>Cao</a:t>
                      </a:r>
                    </a:p>
                  </a:txBody>
                  <a:tcPr anchor="ctr">
                    <a:lnL>
                      <a:noFill/>
                    </a:lnL>
                    <a:lnR>
                      <a:noFill/>
                    </a:lnR>
                    <a:lnT>
                      <a:noFill/>
                    </a:lnT>
                    <a:lnB>
                      <a:noFill/>
                    </a:lnB>
                    <a:noFill/>
                  </a:tcPr>
                </a:tc>
                <a:tc>
                  <a:txBody>
                    <a:bodyPr/>
                    <a:lstStyle/>
                    <a:p>
                      <a:pPr>
                        <a:buNone/>
                      </a:pPr>
                      <a:r>
                        <a:rPr lang="en-US" sz="1600"/>
                        <a:t>Có thể bị truy cập trái phép do truyền dữ liệu không mã hóa.</a:t>
                      </a:r>
                    </a:p>
                  </a:txBody>
                  <a:tcPr anchor="ctr">
                    <a:lnL>
                      <a:noFill/>
                    </a:lnL>
                    <a:lnR>
                      <a:noFill/>
                    </a:lnR>
                    <a:lnT>
                      <a:noFill/>
                    </a:lnT>
                    <a:lnB>
                      <a:noFill/>
                    </a:lnB>
                    <a:noFill/>
                  </a:tcPr>
                </a:tc>
                <a:extLst>
                  <a:ext uri="{0D108BD9-81ED-4DB2-BD59-A6C34878D82A}">
                    <a16:rowId xmlns:a16="http://schemas.microsoft.com/office/drawing/2014/main" val="3662386711"/>
                  </a:ext>
                </a:extLst>
              </a:tr>
              <a:tr h="700777">
                <a:tc>
                  <a:txBody>
                    <a:bodyPr/>
                    <a:lstStyle/>
                    <a:p>
                      <a:pPr>
                        <a:buNone/>
                      </a:pPr>
                      <a:r>
                        <a:rPr lang="en-US" sz="1600"/>
                        <a:t>Nhiều cổng mạng mở (22, 80, 443...)</a:t>
                      </a:r>
                    </a:p>
                  </a:txBody>
                  <a:tcPr anchor="ctr">
                    <a:lnL>
                      <a:noFill/>
                    </a:lnL>
                    <a:lnR>
                      <a:noFill/>
                    </a:lnR>
                    <a:lnT>
                      <a:noFill/>
                    </a:lnT>
                    <a:lnB>
                      <a:noFill/>
                    </a:lnB>
                    <a:noFill/>
                  </a:tcPr>
                </a:tc>
                <a:tc>
                  <a:txBody>
                    <a:bodyPr/>
                    <a:lstStyle/>
                    <a:p>
                      <a:pPr>
                        <a:buNone/>
                      </a:pPr>
                      <a:r>
                        <a:rPr lang="en-US" sz="1600" dirty="0"/>
                        <a:t>Trung </a:t>
                      </a:r>
                      <a:r>
                        <a:rPr lang="en-US" sz="1600" dirty="0" err="1"/>
                        <a:t>bình</a:t>
                      </a:r>
                      <a:endParaRPr lang="en-US" sz="1600" dirty="0"/>
                    </a:p>
                  </a:txBody>
                  <a:tcPr anchor="ctr">
                    <a:lnL>
                      <a:noFill/>
                    </a:lnL>
                    <a:lnR>
                      <a:noFill/>
                    </a:lnR>
                    <a:lnT>
                      <a:noFill/>
                    </a:lnT>
                    <a:lnB>
                      <a:noFill/>
                    </a:lnB>
                    <a:noFill/>
                  </a:tcPr>
                </a:tc>
                <a:tc>
                  <a:txBody>
                    <a:bodyPr/>
                    <a:lstStyle/>
                    <a:p>
                      <a:pPr>
                        <a:buNone/>
                      </a:pPr>
                      <a:r>
                        <a:rPr lang="vi-VN" sz="1600" dirty="0"/>
                        <a:t>Làm tăng bề mặt tấn công nếu không được kiểm soát.</a:t>
                      </a:r>
                    </a:p>
                  </a:txBody>
                  <a:tcPr anchor="ctr">
                    <a:lnL>
                      <a:noFill/>
                    </a:lnL>
                    <a:lnR>
                      <a:noFill/>
                    </a:lnR>
                    <a:lnT>
                      <a:noFill/>
                    </a:lnT>
                    <a:lnB>
                      <a:noFill/>
                    </a:lnB>
                    <a:noFill/>
                  </a:tcPr>
                </a:tc>
                <a:extLst>
                  <a:ext uri="{0D108BD9-81ED-4DB2-BD59-A6C34878D82A}">
                    <a16:rowId xmlns:a16="http://schemas.microsoft.com/office/drawing/2014/main" val="259554697"/>
                  </a:ext>
                </a:extLst>
              </a:tr>
              <a:tr h="911010">
                <a:tc>
                  <a:txBody>
                    <a:bodyPr/>
                    <a:lstStyle/>
                    <a:p>
                      <a:pPr>
                        <a:buNone/>
                      </a:pPr>
                      <a:r>
                        <a:rPr lang="en-US" sz="1600"/>
                        <a:t>Web Server uHTTPd</a:t>
                      </a:r>
                    </a:p>
                  </a:txBody>
                  <a:tcPr anchor="ctr">
                    <a:lnL>
                      <a:noFill/>
                    </a:lnL>
                    <a:lnR>
                      <a:noFill/>
                    </a:lnR>
                    <a:lnT>
                      <a:noFill/>
                    </a:lnT>
                    <a:lnB>
                      <a:noFill/>
                    </a:lnB>
                    <a:noFill/>
                  </a:tcPr>
                </a:tc>
                <a:tc>
                  <a:txBody>
                    <a:bodyPr/>
                    <a:lstStyle/>
                    <a:p>
                      <a:pPr>
                        <a:buNone/>
                      </a:pPr>
                      <a:r>
                        <a:rPr lang="en-US" sz="1600"/>
                        <a:t>Trung bình</a:t>
                      </a:r>
                    </a:p>
                  </a:txBody>
                  <a:tcPr anchor="ctr">
                    <a:lnL>
                      <a:noFill/>
                    </a:lnL>
                    <a:lnR>
                      <a:noFill/>
                    </a:lnR>
                    <a:lnT>
                      <a:noFill/>
                    </a:lnT>
                    <a:lnB>
                      <a:noFill/>
                    </a:lnB>
                    <a:noFill/>
                  </a:tcPr>
                </a:tc>
                <a:tc>
                  <a:txBody>
                    <a:bodyPr/>
                    <a:lstStyle/>
                    <a:p>
                      <a:pPr>
                        <a:buNone/>
                      </a:pPr>
                      <a:r>
                        <a:rPr lang="vi-VN" sz="1600"/>
                        <a:t>Có nguy cơ bị khai thác nếu tồn tại lỗ hổng hoặc cấu hình không an toàn.</a:t>
                      </a:r>
                    </a:p>
                  </a:txBody>
                  <a:tcPr anchor="ctr">
                    <a:lnL>
                      <a:noFill/>
                    </a:lnL>
                    <a:lnR>
                      <a:noFill/>
                    </a:lnR>
                    <a:lnT>
                      <a:noFill/>
                    </a:lnT>
                    <a:lnB>
                      <a:noFill/>
                    </a:lnB>
                    <a:noFill/>
                  </a:tcPr>
                </a:tc>
                <a:extLst>
                  <a:ext uri="{0D108BD9-81ED-4DB2-BD59-A6C34878D82A}">
                    <a16:rowId xmlns:a16="http://schemas.microsoft.com/office/drawing/2014/main" val="331832248"/>
                  </a:ext>
                </a:extLst>
              </a:tr>
              <a:tr h="700777">
                <a:tc>
                  <a:txBody>
                    <a:bodyPr/>
                    <a:lstStyle/>
                    <a:p>
                      <a:pPr>
                        <a:buNone/>
                      </a:pPr>
                      <a:r>
                        <a:rPr lang="en-US" sz="1600"/>
                        <a:t>Dịch vụ UPnP</a:t>
                      </a:r>
                    </a:p>
                  </a:txBody>
                  <a:tcPr anchor="ctr">
                    <a:lnL>
                      <a:noFill/>
                    </a:lnL>
                    <a:lnR>
                      <a:noFill/>
                    </a:lnR>
                    <a:lnT>
                      <a:noFill/>
                    </a:lnT>
                    <a:lnB>
                      <a:noFill/>
                    </a:lnB>
                    <a:noFill/>
                  </a:tcPr>
                </a:tc>
                <a:tc>
                  <a:txBody>
                    <a:bodyPr/>
                    <a:lstStyle/>
                    <a:p>
                      <a:pPr>
                        <a:buNone/>
                      </a:pPr>
                      <a:r>
                        <a:rPr lang="en-US" sz="1600"/>
                        <a:t>Trung bình</a:t>
                      </a:r>
                    </a:p>
                  </a:txBody>
                  <a:tcPr anchor="ctr">
                    <a:lnL>
                      <a:noFill/>
                    </a:lnL>
                    <a:lnR>
                      <a:noFill/>
                    </a:lnR>
                    <a:lnT>
                      <a:noFill/>
                    </a:lnT>
                    <a:lnB>
                      <a:noFill/>
                    </a:lnB>
                    <a:noFill/>
                  </a:tcPr>
                </a:tc>
                <a:tc>
                  <a:txBody>
                    <a:bodyPr/>
                    <a:lstStyle/>
                    <a:p>
                      <a:pPr>
                        <a:buNone/>
                      </a:pPr>
                      <a:r>
                        <a:rPr lang="en-US" sz="1600" dirty="0" err="1"/>
                        <a:t>Có</a:t>
                      </a:r>
                      <a:r>
                        <a:rPr lang="en-US" sz="1600" dirty="0"/>
                        <a:t> </a:t>
                      </a:r>
                      <a:r>
                        <a:rPr lang="en-US" sz="1600" dirty="0" err="1"/>
                        <a:t>thể</a:t>
                      </a:r>
                      <a:r>
                        <a:rPr lang="en-US" sz="1600" dirty="0"/>
                        <a:t> </a:t>
                      </a:r>
                      <a:r>
                        <a:rPr lang="en-US" sz="1600" dirty="0" err="1"/>
                        <a:t>bị</a:t>
                      </a:r>
                      <a:r>
                        <a:rPr lang="en-US" sz="1600" dirty="0"/>
                        <a:t> </a:t>
                      </a:r>
                      <a:r>
                        <a:rPr lang="en-US" sz="1600" dirty="0" err="1"/>
                        <a:t>lợi</a:t>
                      </a:r>
                      <a:r>
                        <a:rPr lang="en-US" sz="1600" dirty="0"/>
                        <a:t> </a:t>
                      </a:r>
                      <a:r>
                        <a:rPr lang="en-US" sz="1600" dirty="0" err="1"/>
                        <a:t>dụng</a:t>
                      </a:r>
                      <a:r>
                        <a:rPr lang="en-US" sz="1600" dirty="0"/>
                        <a:t> </a:t>
                      </a:r>
                      <a:r>
                        <a:rPr lang="en-US" sz="1600" dirty="0" err="1"/>
                        <a:t>để</a:t>
                      </a:r>
                      <a:r>
                        <a:rPr lang="en-US" sz="1600" dirty="0"/>
                        <a:t> </a:t>
                      </a:r>
                      <a:r>
                        <a:rPr lang="en-US" sz="1600" dirty="0" err="1"/>
                        <a:t>mở</a:t>
                      </a:r>
                      <a:r>
                        <a:rPr lang="en-US" sz="1600" dirty="0"/>
                        <a:t> </a:t>
                      </a:r>
                      <a:r>
                        <a:rPr lang="en-US" sz="1600" dirty="0" err="1"/>
                        <a:t>cổng</a:t>
                      </a:r>
                      <a:r>
                        <a:rPr lang="en-US" sz="1600" dirty="0"/>
                        <a:t> </a:t>
                      </a:r>
                      <a:r>
                        <a:rPr lang="en-US" sz="1600" dirty="0" err="1"/>
                        <a:t>mạng</a:t>
                      </a:r>
                      <a:r>
                        <a:rPr lang="en-US" sz="1600" dirty="0"/>
                        <a:t> </a:t>
                      </a:r>
                      <a:r>
                        <a:rPr lang="en-US" sz="1600" dirty="0" err="1"/>
                        <a:t>ngoài</a:t>
                      </a:r>
                      <a:r>
                        <a:rPr lang="en-US" sz="1600" dirty="0"/>
                        <a:t> ý </a:t>
                      </a:r>
                      <a:r>
                        <a:rPr lang="en-US" sz="1600" dirty="0" err="1"/>
                        <a:t>muốn</a:t>
                      </a:r>
                      <a:r>
                        <a:rPr lang="en-US" sz="1600" dirty="0"/>
                        <a:t>.</a:t>
                      </a:r>
                    </a:p>
                  </a:txBody>
                  <a:tcPr anchor="ctr">
                    <a:lnL>
                      <a:noFill/>
                    </a:lnL>
                    <a:lnR>
                      <a:noFill/>
                    </a:lnR>
                    <a:lnT>
                      <a:noFill/>
                    </a:lnT>
                    <a:lnB>
                      <a:noFill/>
                    </a:lnB>
                    <a:noFill/>
                  </a:tcPr>
                </a:tc>
                <a:extLst>
                  <a:ext uri="{0D108BD9-81ED-4DB2-BD59-A6C34878D82A}">
                    <a16:rowId xmlns:a16="http://schemas.microsoft.com/office/drawing/2014/main" val="3364864458"/>
                  </a:ext>
                </a:extLst>
              </a:tr>
            </a:tbl>
          </a:graphicData>
        </a:graphic>
      </p:graphicFrame>
      <p:sp>
        <p:nvSpPr>
          <p:cNvPr id="5" name="Rectangle 1">
            <a:extLst>
              <a:ext uri="{FF2B5EF4-FFF2-40B4-BE49-F238E27FC236}">
                <a16:creationId xmlns:a16="http://schemas.microsoft.com/office/drawing/2014/main" id="{DB150D18-E5EF-ACDE-3D80-CB7BEFF6C8D4}"/>
              </a:ext>
            </a:extLst>
          </p:cNvPr>
          <p:cNvSpPr>
            <a:spLocks noChangeArrowheads="1"/>
          </p:cNvSpPr>
          <p:nvPr/>
        </p:nvSpPr>
        <p:spPr bwMode="auto">
          <a:xfrm>
            <a:off x="444661" y="229668"/>
            <a:ext cx="250581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Bảng</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phân</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tích</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rủi</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ro</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206D8B48-154D-7E05-D6F6-4B273A1D21DA}"/>
              </a:ext>
            </a:extLst>
          </p:cNvPr>
          <p:cNvSpPr txBox="1"/>
          <p:nvPr/>
        </p:nvSpPr>
        <p:spPr>
          <a:xfrm>
            <a:off x="444660" y="3820058"/>
            <a:ext cx="11702969" cy="1477328"/>
          </a:xfrm>
          <a:prstGeom prst="rect">
            <a:avLst/>
          </a:prstGeom>
          <a:noFill/>
        </p:spPr>
        <p:txBody>
          <a:bodyPr wrap="square">
            <a:spAutoFit/>
          </a:bodyPr>
          <a:lstStyle/>
          <a:p>
            <a:r>
              <a:rPr lang="vi-VN" b="1" dirty="0"/>
              <a:t>Biện pháp phòng chống</a:t>
            </a:r>
            <a:r>
              <a:rPr lang="en-US" b="1" dirty="0"/>
              <a:t>:</a:t>
            </a:r>
          </a:p>
          <a:p>
            <a:r>
              <a:rPr lang="vi-VN" dirty="0"/>
              <a:t>Tắt hoặc vô hiệu hóa dịch vụ Telnet, ưu tiên sử dụng SSH để quản trị từ xa.Chỉ mở các cổng dịch vụ thực sự cần thiết, đóng các cổng không sử dụng.Thường xuyên cập nhật firmware và các thành phần dịch vụ để vá các lỗ hổng đã biết.Thiết lập mật khẩu mạnh và giới hạn quyền truy cập vào giao diện quản trị.Kiểm tra định kỳ cấu hình hệ thống và các dịch vụ mạng nhằm phát hiện sớm các nguy cơ bảo mật.</a:t>
            </a:r>
            <a:endParaRPr lang="en-US" dirty="0"/>
          </a:p>
        </p:txBody>
      </p:sp>
      <p:pic>
        <p:nvPicPr>
          <p:cNvPr id="9" name="Picture 8">
            <a:extLst>
              <a:ext uri="{FF2B5EF4-FFF2-40B4-BE49-F238E27FC236}">
                <a16:creationId xmlns:a16="http://schemas.microsoft.com/office/drawing/2014/main" id="{D7C440CC-596B-7F40-92AF-D7754F2A6FBE}"/>
              </a:ext>
            </a:extLst>
          </p:cNvPr>
          <p:cNvPicPr>
            <a:picLocks noChangeAspect="1"/>
          </p:cNvPicPr>
          <p:nvPr/>
        </p:nvPicPr>
        <p:blipFill>
          <a:blip r:embed="rId2"/>
          <a:stretch>
            <a:fillRect/>
          </a:stretch>
        </p:blipFill>
        <p:spPr>
          <a:xfrm>
            <a:off x="2471013" y="5297386"/>
            <a:ext cx="7249974" cy="1177224"/>
          </a:xfrm>
          <a:prstGeom prst="rect">
            <a:avLst/>
          </a:prstGeom>
        </p:spPr>
      </p:pic>
    </p:spTree>
    <p:extLst>
      <p:ext uri="{BB962C8B-B14F-4D97-AF65-F5344CB8AC3E}">
        <p14:creationId xmlns:p14="http://schemas.microsoft.com/office/powerpoint/2010/main" val="34382539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48B9F-796E-175B-ECE4-AB21149085C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48F37B2-53D6-144E-6BD2-2C9ADB7D0CD4}"/>
              </a:ext>
            </a:extLst>
          </p:cNvPr>
          <p:cNvSpPr txBox="1"/>
          <p:nvPr/>
        </p:nvSpPr>
        <p:spPr>
          <a:xfrm>
            <a:off x="583074" y="371200"/>
            <a:ext cx="6096964" cy="2585323"/>
          </a:xfrm>
          <a:prstGeom prst="rect">
            <a:avLst/>
          </a:prstGeom>
          <a:noFill/>
        </p:spPr>
        <p:txBody>
          <a:bodyPr wrap="square">
            <a:spAutoFit/>
          </a:bodyPr>
          <a:lstStyle/>
          <a:p>
            <a:pPr>
              <a:buNone/>
            </a:pPr>
            <a:r>
              <a:rPr lang="vi-VN" b="1" dirty="0"/>
              <a:t>Đánh giá</a:t>
            </a:r>
            <a:r>
              <a:rPr lang="en-US" b="1" dirty="0"/>
              <a:t>:</a:t>
            </a:r>
            <a:endParaRPr lang="vi-VN" b="1" dirty="0"/>
          </a:p>
          <a:p>
            <a:pPr marL="285750" indent="-285750">
              <a:buFont typeface="Arial" panose="020B0604020202020204" pitchFamily="34" charset="0"/>
              <a:buChar char="•"/>
            </a:pPr>
            <a:r>
              <a:rPr lang="vi-VN" dirty="0"/>
              <a:t>Triển khai thành công môi trường OWASP IoTGoat trên Docker và QEMU. </a:t>
            </a:r>
          </a:p>
          <a:p>
            <a:pPr marL="285750" indent="-285750">
              <a:buFont typeface="Arial" panose="020B0604020202020204" pitchFamily="34" charset="0"/>
              <a:buChar char="•"/>
            </a:pPr>
            <a:r>
              <a:rPr lang="vi-VN" dirty="0"/>
              <a:t>Thu thập được thông tin firmware theo phương pháp OWASP FSTM. </a:t>
            </a:r>
          </a:p>
          <a:p>
            <a:pPr marL="285750" indent="-285750">
              <a:buFont typeface="Arial" panose="020B0604020202020204" pitchFamily="34" charset="0"/>
              <a:buChar char="•"/>
            </a:pPr>
            <a:r>
              <a:rPr lang="vi-VN" dirty="0"/>
              <a:t>Khảo sát cấu hình hệ thống và các dịch vụ đang hoạt động. </a:t>
            </a:r>
          </a:p>
          <a:p>
            <a:pPr marL="285750" indent="-285750">
              <a:buFont typeface="Arial" panose="020B0604020202020204" pitchFamily="34" charset="0"/>
              <a:buChar char="•"/>
            </a:pPr>
            <a:r>
              <a:rPr lang="vi-VN" dirty="0"/>
              <a:t>Xác định được một số rủi ro bảo mật tiêu biểu của firmware.</a:t>
            </a:r>
          </a:p>
        </p:txBody>
      </p:sp>
      <p:sp>
        <p:nvSpPr>
          <p:cNvPr id="8" name="TextBox 7">
            <a:extLst>
              <a:ext uri="{FF2B5EF4-FFF2-40B4-BE49-F238E27FC236}">
                <a16:creationId xmlns:a16="http://schemas.microsoft.com/office/drawing/2014/main" id="{6B251D92-10A1-6F11-3AFD-D77108D541F2}"/>
              </a:ext>
            </a:extLst>
          </p:cNvPr>
          <p:cNvSpPr txBox="1"/>
          <p:nvPr/>
        </p:nvSpPr>
        <p:spPr>
          <a:xfrm>
            <a:off x="583074" y="3003647"/>
            <a:ext cx="6096964" cy="2031325"/>
          </a:xfrm>
          <a:prstGeom prst="rect">
            <a:avLst/>
          </a:prstGeom>
          <a:noFill/>
        </p:spPr>
        <p:txBody>
          <a:bodyPr wrap="square">
            <a:spAutoFit/>
          </a:bodyPr>
          <a:lstStyle/>
          <a:p>
            <a:pPr>
              <a:buNone/>
            </a:pPr>
            <a:r>
              <a:rPr lang="vi-VN" b="1" dirty="0"/>
              <a:t>Hạn chế</a:t>
            </a:r>
            <a:r>
              <a:rPr lang="en-US" b="1" dirty="0"/>
              <a:t>:</a:t>
            </a:r>
            <a:endParaRPr lang="vi-VN" b="1" dirty="0"/>
          </a:p>
          <a:p>
            <a:pPr marL="285750" indent="-285750">
              <a:buFont typeface="Arial" panose="020B0604020202020204" pitchFamily="34" charset="0"/>
              <a:buChar char="•"/>
            </a:pPr>
            <a:r>
              <a:rPr lang="vi-VN" dirty="0"/>
              <a:t>Chưa khai thác toàn bộ các bài thực hành (Challenge) của IoTGoat. </a:t>
            </a:r>
          </a:p>
          <a:p>
            <a:pPr marL="285750" indent="-285750">
              <a:buFont typeface="Arial" panose="020B0604020202020204" pitchFamily="34" charset="0"/>
              <a:buChar char="•"/>
            </a:pPr>
            <a:r>
              <a:rPr lang="vi-VN" dirty="0"/>
              <a:t>Việc đánh giá chủ yếu dựa trên môi trường giả lập, chưa kiểm thử trên thiết bị IoT thực tế. </a:t>
            </a:r>
          </a:p>
          <a:p>
            <a:pPr marL="285750" indent="-285750">
              <a:buFont typeface="Arial" panose="020B0604020202020204" pitchFamily="34" charset="0"/>
              <a:buChar char="•"/>
            </a:pPr>
            <a:r>
              <a:rPr lang="vi-VN" dirty="0"/>
              <a:t>Chưa thực hiện phân tích chuyên sâu ở mức mã nguồn hoặc firmware binary.</a:t>
            </a:r>
          </a:p>
        </p:txBody>
      </p:sp>
      <p:sp>
        <p:nvSpPr>
          <p:cNvPr id="11" name="TextBox 10">
            <a:extLst>
              <a:ext uri="{FF2B5EF4-FFF2-40B4-BE49-F238E27FC236}">
                <a16:creationId xmlns:a16="http://schemas.microsoft.com/office/drawing/2014/main" id="{50839EED-EC26-DEB8-29C5-B40DD3FFEF4C}"/>
              </a:ext>
            </a:extLst>
          </p:cNvPr>
          <p:cNvSpPr txBox="1"/>
          <p:nvPr/>
        </p:nvSpPr>
        <p:spPr>
          <a:xfrm>
            <a:off x="583073" y="5034972"/>
            <a:ext cx="7218263" cy="1477328"/>
          </a:xfrm>
          <a:prstGeom prst="rect">
            <a:avLst/>
          </a:prstGeom>
          <a:noFill/>
        </p:spPr>
        <p:txBody>
          <a:bodyPr wrap="square">
            <a:spAutoFit/>
          </a:bodyPr>
          <a:lstStyle/>
          <a:p>
            <a:r>
              <a:rPr lang="vi-VN" b="1" dirty="0"/>
              <a:t>Hướng phát triển</a:t>
            </a:r>
            <a:r>
              <a:rPr lang="en-US" b="1" dirty="0"/>
              <a:t>:</a:t>
            </a:r>
          </a:p>
          <a:p>
            <a:pPr marL="285750" indent="-285750">
              <a:buFont typeface="Arial" panose="020B0604020202020204" pitchFamily="34" charset="0"/>
              <a:buChar char="•"/>
            </a:pPr>
            <a:r>
              <a:rPr lang="vi-VN" dirty="0"/>
              <a:t>Tiếp tục khai thác các Challenge còn lại của OWASP IoTGoat.</a:t>
            </a:r>
            <a:endParaRPr lang="en-US" dirty="0"/>
          </a:p>
          <a:p>
            <a:pPr marL="285750" indent="-285750">
              <a:buFont typeface="Arial" panose="020B0604020202020204" pitchFamily="34" charset="0"/>
              <a:buChar char="•"/>
            </a:pPr>
            <a:r>
              <a:rPr lang="vi-VN" dirty="0"/>
              <a:t>Áp dụng quy trình đánh giá trên các firmware IoT thực tế.</a:t>
            </a:r>
            <a:endParaRPr lang="en-US" dirty="0"/>
          </a:p>
          <a:p>
            <a:pPr marL="285750" indent="-285750">
              <a:buFont typeface="Arial" panose="020B0604020202020204" pitchFamily="34" charset="0"/>
              <a:buChar char="•"/>
            </a:pPr>
            <a:r>
              <a:rPr lang="vi-VN" dirty="0"/>
              <a:t>Kết hợp thêm các công cụ phân tích tĩnh và phân tích động để mở rộng phạm vi kiểm thử.</a:t>
            </a:r>
            <a:endParaRPr lang="en-US" dirty="0"/>
          </a:p>
        </p:txBody>
      </p:sp>
    </p:spTree>
    <p:extLst>
      <p:ext uri="{BB962C8B-B14F-4D97-AF65-F5344CB8AC3E}">
        <p14:creationId xmlns:p14="http://schemas.microsoft.com/office/powerpoint/2010/main" val="25681202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CB32E-92A2-4224-F412-0D3654FB01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214399F-3F22-5653-1482-DFD9D801D55B}"/>
              </a:ext>
            </a:extLst>
          </p:cNvPr>
          <p:cNvSpPr txBox="1"/>
          <p:nvPr/>
        </p:nvSpPr>
        <p:spPr>
          <a:xfrm>
            <a:off x="305282" y="1147100"/>
            <a:ext cx="9787842" cy="1477328"/>
          </a:xfrm>
          <a:prstGeom prst="rect">
            <a:avLst/>
          </a:prstGeom>
          <a:noFill/>
        </p:spPr>
        <p:txBody>
          <a:bodyPr wrap="square">
            <a:spAutoFit/>
          </a:bodyPr>
          <a:lstStyle/>
          <a:p>
            <a:r>
              <a:rPr lang="vi-VN" b="1" dirty="0"/>
              <a:t>Những giá trị đạt được</a:t>
            </a:r>
            <a:r>
              <a:rPr lang="en-US" b="1" dirty="0"/>
              <a:t>:</a:t>
            </a:r>
            <a:endParaRPr lang="vi-VN" b="1" dirty="0"/>
          </a:p>
          <a:p>
            <a:pPr marL="285750" indent="-285750">
              <a:buFont typeface="Arial" panose="020B0604020202020204" pitchFamily="34" charset="0"/>
              <a:buChar char="•"/>
            </a:pPr>
            <a:r>
              <a:rPr lang="vi-VN" dirty="0"/>
              <a:t>Xây dựng thành công môi trường đánh giá bảo mật firmware bằng </a:t>
            </a:r>
            <a:r>
              <a:rPr lang="vi-VN" b="1" dirty="0"/>
              <a:t>OWASP IoTGoat</a:t>
            </a:r>
            <a:r>
              <a:rPr lang="vi-VN" dirty="0"/>
              <a:t>. </a:t>
            </a:r>
          </a:p>
          <a:p>
            <a:pPr marL="285750" indent="-285750">
              <a:buFont typeface="Arial" panose="020B0604020202020204" pitchFamily="34" charset="0"/>
              <a:buChar char="•"/>
            </a:pPr>
            <a:r>
              <a:rPr lang="vi-VN" dirty="0"/>
              <a:t>Áp dụng quy trình </a:t>
            </a:r>
            <a:r>
              <a:rPr lang="vi-VN" b="1" dirty="0"/>
              <a:t>OWASP FSTM</a:t>
            </a:r>
            <a:r>
              <a:rPr lang="vi-VN" dirty="0"/>
              <a:t> để khảo sát firmware. </a:t>
            </a:r>
          </a:p>
          <a:p>
            <a:pPr marL="285750" indent="-285750">
              <a:buFont typeface="Arial" panose="020B0604020202020204" pitchFamily="34" charset="0"/>
              <a:buChar char="•"/>
            </a:pPr>
            <a:r>
              <a:rPr lang="vi-VN" dirty="0"/>
              <a:t>Thu thập và phân tích được các thành phần quan trọng của hệ thống. </a:t>
            </a:r>
          </a:p>
          <a:p>
            <a:pPr marL="285750" indent="-285750">
              <a:buFont typeface="Arial" panose="020B0604020202020204" pitchFamily="34" charset="0"/>
              <a:buChar char="•"/>
            </a:pPr>
            <a:r>
              <a:rPr lang="vi-VN" dirty="0"/>
              <a:t>Nhận diện các rủi ro bảo mật và đề xuất biện pháp giảm thiểu phù hợp. </a:t>
            </a:r>
          </a:p>
        </p:txBody>
      </p:sp>
      <p:sp>
        <p:nvSpPr>
          <p:cNvPr id="8" name="TextBox 7">
            <a:extLst>
              <a:ext uri="{FF2B5EF4-FFF2-40B4-BE49-F238E27FC236}">
                <a16:creationId xmlns:a16="http://schemas.microsoft.com/office/drawing/2014/main" id="{7622098D-1D54-937C-0F6E-F1B5BF8CD5DE}"/>
              </a:ext>
            </a:extLst>
          </p:cNvPr>
          <p:cNvSpPr txBox="1"/>
          <p:nvPr/>
        </p:nvSpPr>
        <p:spPr>
          <a:xfrm>
            <a:off x="368942" y="3956575"/>
            <a:ext cx="6141817" cy="1754326"/>
          </a:xfrm>
          <a:prstGeom prst="rect">
            <a:avLst/>
          </a:prstGeom>
          <a:noFill/>
        </p:spPr>
        <p:txBody>
          <a:bodyPr wrap="square">
            <a:spAutoFit/>
          </a:bodyPr>
          <a:lstStyle/>
          <a:p>
            <a:r>
              <a:rPr lang="vi-VN" b="1" dirty="0"/>
              <a:t>Ý nghĩa của đề tài</a:t>
            </a:r>
            <a:r>
              <a:rPr lang="en-US" b="1" dirty="0"/>
              <a:t>:</a:t>
            </a:r>
            <a:endParaRPr lang="vi-VN" b="1" dirty="0"/>
          </a:p>
          <a:p>
            <a:r>
              <a:rPr lang="vi-VN" dirty="0"/>
              <a:t>Đề tài giúp nhóm hiểu rõ quy trình đánh giá bảo mật firmware IoT theo phương pháp OWASP FSTM, đồng thời nâng cao kỹ năng triển khai môi trường Docker, QEMU và phân tích firmware OpenWrt trong môi trường thực nghiệm.</a:t>
            </a:r>
          </a:p>
        </p:txBody>
      </p:sp>
      <p:pic>
        <p:nvPicPr>
          <p:cNvPr id="11" name="Picture 10">
            <a:extLst>
              <a:ext uri="{FF2B5EF4-FFF2-40B4-BE49-F238E27FC236}">
                <a16:creationId xmlns:a16="http://schemas.microsoft.com/office/drawing/2014/main" id="{67EF0326-CE94-B4AD-6379-CC24C4FA5A26}"/>
              </a:ext>
            </a:extLst>
          </p:cNvPr>
          <p:cNvPicPr>
            <a:picLocks noChangeAspect="1"/>
          </p:cNvPicPr>
          <p:nvPr/>
        </p:nvPicPr>
        <p:blipFill>
          <a:blip r:embed="rId2"/>
          <a:stretch>
            <a:fillRect/>
          </a:stretch>
        </p:blipFill>
        <p:spPr>
          <a:xfrm>
            <a:off x="6567184" y="2695124"/>
            <a:ext cx="5419635" cy="3076898"/>
          </a:xfrm>
          <a:prstGeom prst="rect">
            <a:avLst/>
          </a:prstGeom>
        </p:spPr>
      </p:pic>
    </p:spTree>
    <p:extLst>
      <p:ext uri="{BB962C8B-B14F-4D97-AF65-F5344CB8AC3E}">
        <p14:creationId xmlns:p14="http://schemas.microsoft.com/office/powerpoint/2010/main" val="1760980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4CF45C7-0BDA-3F3F-2994-F47DF793B9D1}"/>
              </a:ext>
            </a:extLst>
          </p:cNvPr>
          <p:cNvSpPr txBox="1"/>
          <p:nvPr/>
        </p:nvSpPr>
        <p:spPr>
          <a:xfrm>
            <a:off x="1151319" y="2274838"/>
            <a:ext cx="9889361" cy="2308324"/>
          </a:xfrm>
          <a:prstGeom prst="rect">
            <a:avLst/>
          </a:prstGeom>
          <a:noFill/>
        </p:spPr>
        <p:txBody>
          <a:bodyPr wrap="square">
            <a:spAutoFit/>
          </a:bodyPr>
          <a:lstStyle/>
          <a:p>
            <a:pPr algn="ctr"/>
            <a:r>
              <a:rPr lang="en-US" b="1" dirty="0"/>
              <a:t>Tài </a:t>
            </a:r>
            <a:r>
              <a:rPr lang="en-US" b="1" dirty="0" err="1"/>
              <a:t>liệu</a:t>
            </a:r>
            <a:r>
              <a:rPr lang="en-US" b="1" dirty="0"/>
              <a:t> </a:t>
            </a:r>
            <a:r>
              <a:rPr lang="en-US" b="1" dirty="0" err="1"/>
              <a:t>tham</a:t>
            </a:r>
            <a:r>
              <a:rPr lang="en-US" b="1" dirty="0"/>
              <a:t> </a:t>
            </a:r>
            <a:r>
              <a:rPr lang="en-US" b="1" dirty="0" err="1"/>
              <a:t>khảo</a:t>
            </a:r>
            <a:endParaRPr lang="en-US" b="1" dirty="0"/>
          </a:p>
          <a:p>
            <a:pPr marL="285750" indent="-285750">
              <a:buFont typeface="Arial" panose="020B0604020202020204" pitchFamily="34" charset="0"/>
              <a:buChar char="•"/>
            </a:pPr>
            <a:r>
              <a:rPr lang="en-US" dirty="0"/>
              <a:t>OWASP </a:t>
            </a:r>
            <a:r>
              <a:rPr lang="en-US" dirty="0" err="1"/>
              <a:t>IoTGoat</a:t>
            </a:r>
            <a:r>
              <a:rPr lang="en-US" dirty="0"/>
              <a:t>: </a:t>
            </a:r>
            <a:r>
              <a:rPr lang="en-US" dirty="0">
                <a:hlinkClick r:id="rId2"/>
              </a:rPr>
              <a:t>https://github.com/OWASP/IoTGoat</a:t>
            </a:r>
            <a:endParaRPr lang="en-US" dirty="0"/>
          </a:p>
          <a:p>
            <a:pPr marL="285750" indent="-285750">
              <a:buFont typeface="Arial" panose="020B0604020202020204" pitchFamily="34" charset="0"/>
              <a:buChar char="•"/>
            </a:pPr>
            <a:r>
              <a:rPr lang="en-US" dirty="0"/>
              <a:t>OWASP Firmware Security Testing Methodology (FSTM): </a:t>
            </a:r>
            <a:r>
              <a:rPr lang="en-US" dirty="0">
                <a:hlinkClick r:id="rId3"/>
              </a:rPr>
              <a:t>https://github.com/scriptingxss/owasp-fstm</a:t>
            </a:r>
            <a:endParaRPr lang="en-US" dirty="0"/>
          </a:p>
          <a:p>
            <a:pPr marL="285750" indent="-285750">
              <a:buFont typeface="Arial" panose="020B0604020202020204" pitchFamily="34" charset="0"/>
              <a:buChar char="•"/>
            </a:pPr>
            <a:r>
              <a:rPr lang="en-US" dirty="0"/>
              <a:t>OWASP IoT Security Testing Guide (ISTG): </a:t>
            </a:r>
            <a:r>
              <a:rPr lang="en-US" dirty="0">
                <a:hlinkClick r:id="rId4"/>
              </a:rPr>
              <a:t>https://github.com/OWASP/owasp-istg</a:t>
            </a:r>
            <a:endParaRPr lang="en-US" dirty="0"/>
          </a:p>
          <a:p>
            <a:pPr marL="285750" indent="-285750">
              <a:buFont typeface="Arial" panose="020B0604020202020204" pitchFamily="34" charset="0"/>
              <a:buChar char="•"/>
            </a:pPr>
            <a:r>
              <a:rPr lang="en-US" dirty="0" err="1"/>
              <a:t>OpenWrt</a:t>
            </a:r>
            <a:r>
              <a:rPr lang="en-US" dirty="0"/>
              <a:t> Documentation: </a:t>
            </a:r>
            <a:r>
              <a:rPr lang="en-US" dirty="0">
                <a:hlinkClick r:id="rId5"/>
              </a:rPr>
              <a:t>https://openwrt.org</a:t>
            </a:r>
            <a:endParaRPr lang="en-US" dirty="0"/>
          </a:p>
          <a:p>
            <a:pPr marL="285750" indent="-285750">
              <a:buFont typeface="Arial" panose="020B0604020202020204" pitchFamily="34" charset="0"/>
              <a:buChar char="•"/>
            </a:pPr>
            <a:r>
              <a:rPr lang="en-US" dirty="0"/>
              <a:t>Docker Documentation: </a:t>
            </a:r>
            <a:r>
              <a:rPr lang="en-US" dirty="0">
                <a:hlinkClick r:id="rId6"/>
              </a:rPr>
              <a:t>https://docs.docker.com</a:t>
            </a:r>
            <a:endParaRPr lang="en-US" dirty="0"/>
          </a:p>
          <a:p>
            <a:pPr marL="285750" indent="-285750">
              <a:buFont typeface="Arial" panose="020B0604020202020204" pitchFamily="34" charset="0"/>
              <a:buChar char="•"/>
            </a:pPr>
            <a:r>
              <a:rPr lang="en-US" dirty="0"/>
              <a:t>QEMU Documentation: </a:t>
            </a:r>
            <a:r>
              <a:rPr lang="en-US" dirty="0">
                <a:hlinkClick r:id="rId7"/>
              </a:rPr>
              <a:t>https://www.qemu.org</a:t>
            </a: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361002913"/>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84</TotalTime>
  <Words>955</Words>
  <Application>Microsoft Office PowerPoint</Application>
  <PresentationFormat>Widescreen</PresentationFormat>
  <Paragraphs>99</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HungHau</vt:lpstr>
      <vt:lpstr>Office Theme</vt:lpstr>
      <vt:lpstr> ĐỀ TÀI 30 LỖ HỔNG FIRMWARE THIẾT BỊ IoT QUA OWASP IoTGoat Họ và tên: Châu Nhật Hào Mssv: 231A010504 Tên Học phần: Bảo mật trong IoT Lớp học phần: 253INT441001 Giảng viên hướng dẫn: Hồ Nhựt Minh </vt:lpstr>
      <vt:lpstr>PowerPoint Presentation</vt:lpstr>
      <vt:lpstr>Kiến thức nền Firmware IoT: Phần mềm điều khiển hoạt động của thiết bị IoT.  OpenWrt: Hệ điều hành mã nguồn mở dùng cho thiết bị mạng.  OWASP IoTGoat: Firmware chứa các lỗ hổng có chủ đích phục vụ học tập.  OWASP FSTM: Phương pháp thu thập và đánh giá bảo mật firmware.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 PC</dc:creator>
  <cp:lastModifiedBy>Hai Chau</cp:lastModifiedBy>
  <cp:revision>12</cp:revision>
  <dcterms:created xsi:type="dcterms:W3CDTF">2017-04-10T03:58:20Z</dcterms:created>
  <dcterms:modified xsi:type="dcterms:W3CDTF">2026-07-24T09:46:31Z</dcterms:modified>
</cp:coreProperties>
</file>